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4C2880-B299-4287-8B7F-D3662913E084}">
  <a:tblStyle styleId="{E14C2880-B299-4287-8B7F-D3662913E08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" type="body"/>
          </p:nvPr>
        </p:nvSpPr>
        <p:spPr>
          <a:xfrm>
            <a:off x="255996" y="1271219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b="1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255996" y="629525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b="1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" name="Google Shape;47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 rot="5400000">
            <a:off x="3781990" y="-1912962"/>
            <a:ext cx="4795008" cy="110044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icture with Caption">
  <p:cSld name="2_Picture with Ca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173803" y="469835"/>
            <a:ext cx="11672300" cy="650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200"/>
              <a:buChar char="•"/>
              <a:defRPr b="1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" y="5337544"/>
            <a:ext cx="12191994" cy="15483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0">
                <a:srgbClr val="47BDAE"/>
              </a:gs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000" u="none" cap="none" strike="noStrik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LTIMindtree logo in transparent PNG and vectorized SVG formats"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45387" y="6562429"/>
            <a:ext cx="1541059" cy="29557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221274" y="88514"/>
            <a:ext cx="8176583" cy="1103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391411" y="640135"/>
            <a:ext cx="11290305" cy="523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58720" y="413891"/>
            <a:ext cx="10025576" cy="685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54" y="6358271"/>
            <a:ext cx="964436" cy="4112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 sz="4400">
                <a:solidFill>
                  <a:schemeClr val="lt1"/>
                </a:solidFill>
              </a:rPr>
              <a:t>M.Tech Program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Advanced Industry Integrated Programs</a:t>
            </a:r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4" name="Google Shape;64;p15"/>
          <p:cNvSpPr/>
          <p:nvPr/>
        </p:nvSpPr>
        <p:spPr>
          <a:xfrm>
            <a:off x="4125950" y="1177575"/>
            <a:ext cx="3106500" cy="361800"/>
          </a:xfrm>
          <a:prstGeom prst="roundRect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Jointly offered by University and LTIMindTree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180225" y="2346250"/>
            <a:ext cx="114282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TenderBid AI – AI-Powered Bid/No-Bid Decision Platform </a:t>
            </a:r>
            <a:endParaRPr b="1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Ahilya Chauhan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VIT, Vellore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-47290" y="5501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{E14C2880-B299-4287-8B7F-D3662913E084}</a:tableStyleId>
              </a:tblPr>
              <a:tblGrid>
                <a:gridCol w="6119600"/>
                <a:gridCol w="6119600"/>
              </a:tblGrid>
              <a:tr h="152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Implementation partner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TIMindtree - Technology Consulting and Digital Solutions Company" id="68" name="Google Shape;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852667"/>
            <a:ext cx="3886489" cy="864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256000" y="1680125"/>
            <a:ext cx="12192000" cy="28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tender evaluation is slow, inconsistent, 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resource-heavy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Decisions often based on experience, not data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TenderBid AI applies AI/ML + NLP to tender documents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Recommends Bid/No-Bid with a confidence score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Adds explainable reasoning behind each decision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r>
              <a:t/>
            </a:r>
            <a:endParaRPr b="0" sz="2400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cxnSp>
        <p:nvCxnSpPr>
          <p:cNvPr id="75" name="Google Shape;75;p16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6" name="Google Shape;76;p16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Title -  Calibri body 18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3025" y="1438075"/>
            <a:ext cx="3458975" cy="4289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71125" y="1680126"/>
            <a:ext cx="10624200" cy="3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 evaluation of tender documents — reduces dependency on manual review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 key parameters using NLP — pulls structured data from unstructured PDFs/DOCX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 bid-win probability from historical data — scores new tenders using past outcomes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explainable, not black-box, recommendations — shows the "why" behind each score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manual effort and decision turnaround time — speeds up go/no-go calls from days to minutes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/>
          </a:p>
        </p:txBody>
      </p:sp>
      <p:cxnSp>
        <p:nvCxnSpPr>
          <p:cNvPr id="84" name="Google Shape;84;p17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5" name="Google Shape;85;p17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Title -  Calibri body 18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256000" y="1587826"/>
            <a:ext cx="10624200" cy="3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Tenders sourced from the EU's TED (Tenders Electronic Daily) portal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Accepts unstructured PDF/HTML tender notices as input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Evaluates eligibility, competition, financial and risk factors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Excludes proposal writing and contract negotiation stages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bidding decision remains with the human bid manager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r>
              <a:t/>
            </a:r>
            <a:endParaRPr b="0" sz="2400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/>
          </a:p>
        </p:txBody>
      </p:sp>
      <p:cxnSp>
        <p:nvCxnSpPr>
          <p:cNvPr id="92" name="Google Shape;92;p18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3" name="Google Shape;93;p18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Title -  Calibri body 18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8"/>
          <p:cNvPicPr preferRelativeResize="0"/>
          <p:nvPr/>
        </p:nvPicPr>
        <p:blipFill rotWithShape="1">
          <a:blip r:embed="rId3">
            <a:alphaModFix/>
          </a:blip>
          <a:srcRect b="0" l="0" r="5159" t="-12070"/>
          <a:stretch/>
        </p:blipFill>
        <p:spPr>
          <a:xfrm>
            <a:off x="2213925" y="4596600"/>
            <a:ext cx="7471175" cy="18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256000" y="1603975"/>
            <a:ext cx="10624200" cy="3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Sonmez &amp; Sözgen (2017) – SVM-based bid/no-bid decision making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Xu &amp; Yan (2016) – rough sets + neural network bid/no-bid prediction model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Onyekaonwu et al. (2024) – ML algorithm for tender evaluation &amp; contractor selection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Lundberg &amp; Lee (2017) – SHAP framework for explainable predictions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r>
              <a:t/>
            </a:r>
            <a:endParaRPr b="0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/>
          </a:p>
        </p:txBody>
      </p:sp>
      <p:cxnSp>
        <p:nvCxnSpPr>
          <p:cNvPr id="101" name="Google Shape;101;p19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2" name="Google Shape;102;p19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Title -  Calibri body 18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256000" y="1910550"/>
            <a:ext cx="11333100" cy="38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bid/no-bid research is rooted in construction industry.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ML/SVM models outperform manual, subjective scoring methods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few models combine tender-document NLP with prediction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Explainability (SHAP) remains rarely applied in bid/no-bid literature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TenderBid AI extends this into e-procurement with NLP + ML + explainability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Summary of Literature</a:t>
            </a:r>
            <a:endParaRPr/>
          </a:p>
        </p:txBody>
      </p:sp>
      <p:cxnSp>
        <p:nvCxnSpPr>
          <p:cNvPr id="109" name="Google Shape;109;p20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0" name="Google Shape;110;p20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Title -  Calibri body 18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21276" y="1787600"/>
            <a:ext cx="12511200" cy="4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stack: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LLM, Hybrid RAG, Multi-Agent AI, LangGraph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built with FastAPI, database: PostgreSQL, containerized with Docker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Data: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EU TED public tender/RFP PDFs, procurement documents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explainable Bid/No-Bid recommendation with confidence score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Novelty: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Multi-agent LLM + RAG pipeline delivering evidence-based recommendations over real EU tender/award data 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r>
              <a:t/>
            </a:r>
            <a:endParaRPr b="0" sz="2400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Additional Information</a:t>
            </a:r>
            <a:endParaRPr/>
          </a:p>
        </p:txBody>
      </p:sp>
      <p:cxnSp>
        <p:nvCxnSpPr>
          <p:cNvPr id="117" name="Google Shape;117;p21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8" name="Google Shape;118;p21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Title -  Calibri body 18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256000" y="1442600"/>
            <a:ext cx="12011100" cy="47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M1: Document Ingestion &amp; Preprocessing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Accepts tender/RFP PDFs from EU TED portal and chunks them for retrieval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M2: Requirement &amp; Risk Extraction (RAG-based)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Hybrid RAG + LLM extract requirements, eligibility, and risk clauses from tender text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M3: Eligibility &amp; Capability Matching (Multi-Agent)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Compares requirements with company capability data to flag gaps and score eligibility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83D1"/>
              </a:solidFill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Modules to cover</a:t>
            </a:r>
            <a:endParaRPr/>
          </a:p>
        </p:txBody>
      </p:sp>
      <p:cxnSp>
        <p:nvCxnSpPr>
          <p:cNvPr id="125" name="Google Shape;125;p22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6" name="Google Shape;126;p22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Title -  Calibri body 18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401250" y="1680125"/>
            <a:ext cx="10624200" cy="4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M4: Risk Analysis Agent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Analyzes financial, legal, and delivery risk factors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historical EU award data for risk scoring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M5: Bid/No-Bid Recommendation &amp; Explainability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LangGraph orchestrates agent outputs into final decision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Generates evidence-based recommendation with supporting reasoning on dashboard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1C3898"/>
              </a:solidFill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r>
              <a:rPr b="1" lang="en-US" sz="3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i="0" sz="3600" u="none" cap="none" strike="noStrik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23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4" name="Google Shape;134;p2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Title -  Calibri body 18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
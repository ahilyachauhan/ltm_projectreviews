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85BCF0-583B-4EC2-A597-8D233ED1B818}">
  <a:tblStyle styleId="{EF85BCF0-583B-4EC2-A597-8D233ED1B81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" type="body"/>
          </p:nvPr>
        </p:nvSpPr>
        <p:spPr>
          <a:xfrm>
            <a:off x="255996" y="1271219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body"/>
          </p:nvPr>
        </p:nvSpPr>
        <p:spPr>
          <a:xfrm>
            <a:off x="255996" y="629525"/>
            <a:ext cx="10624338" cy="4445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  <a:defRPr b="1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b="0" i="0" sz="6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" name="Google Shape;47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 rot="5400000">
            <a:off x="3781990" y="-1912962"/>
            <a:ext cx="4795008" cy="11004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Picture with Caption">
  <p:cSld name="2_Picture with Ca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173803" y="469835"/>
            <a:ext cx="11672300" cy="650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95959"/>
              </a:buClr>
              <a:buSzPts val="3200"/>
              <a:buChar char="•"/>
              <a:defRPr b="1" sz="320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" y="5337544"/>
            <a:ext cx="12191994" cy="154830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0">
                <a:srgbClr val="47BDAE"/>
              </a:gs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000" u="none" cap="none" strike="noStrike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LTIMindtree logo in transparent PNG and vectorized SVG formats"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545387" y="6562429"/>
            <a:ext cx="1541059" cy="295571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/>
        </p:nvSpPr>
        <p:spPr>
          <a:xfrm>
            <a:off x="221274" y="88514"/>
            <a:ext cx="8176583" cy="1103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391411" y="640135"/>
            <a:ext cx="11290305" cy="523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58720" y="413891"/>
            <a:ext cx="10025576" cy="6859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554" y="6358271"/>
            <a:ext cx="964436" cy="4112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39000">
                <a:srgbClr val="1C4D98"/>
              </a:gs>
              <a:gs pos="100000">
                <a:srgbClr val="3793A6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2289635" y="17705"/>
            <a:ext cx="6910121" cy="1058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</a:pPr>
            <a:r>
              <a:rPr lang="en-US" sz="4400">
                <a:solidFill>
                  <a:schemeClr val="lt1"/>
                </a:solidFill>
              </a:rPr>
              <a:t>M.Tech Program 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rPr lang="en-US" sz="2000">
                <a:solidFill>
                  <a:schemeClr val="lt1"/>
                </a:solidFill>
              </a:rPr>
              <a:t>Advanced Industry Integrated Programs</a:t>
            </a:r>
            <a:endParaRPr/>
          </a:p>
        </p:txBody>
      </p:sp>
      <p:cxnSp>
        <p:nvCxnSpPr>
          <p:cNvPr id="63" name="Google Shape;63;p15"/>
          <p:cNvCxnSpPr/>
          <p:nvPr/>
        </p:nvCxnSpPr>
        <p:spPr>
          <a:xfrm>
            <a:off x="2977350" y="1120307"/>
            <a:ext cx="5866228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4" name="Google Shape;64;p15"/>
          <p:cNvSpPr/>
          <p:nvPr/>
        </p:nvSpPr>
        <p:spPr>
          <a:xfrm>
            <a:off x="4125951" y="1177578"/>
            <a:ext cx="3033131" cy="286036"/>
          </a:xfrm>
          <a:prstGeom prst="roundRect">
            <a:avLst>
              <a:gd fmla="val 16667" name="adj"/>
            </a:avLst>
          </a:prstGeom>
          <a:solidFill>
            <a:srgbClr val="E1EFD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Arial"/>
              <a:buNone/>
            </a:pPr>
            <a:r>
              <a:rPr i="0" lang="en-US" sz="12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Jointly offered by University and LTIMindTree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180225" y="2168750"/>
            <a:ext cx="114282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lang="en-US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FactoryCAPA – AI Quality Intelligence Platform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Ahilya Chauhan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VIT,Vellore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6" name="Google Shape;66;p15"/>
          <p:cNvGraphicFramePr/>
          <p:nvPr/>
        </p:nvGraphicFramePr>
        <p:xfrm>
          <a:off x="-47290" y="55012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{EF85BCF0-583B-4EC2-A597-8D233ED1B818}</a:tableStyleId>
              </a:tblPr>
              <a:tblGrid>
                <a:gridCol w="6119600"/>
                <a:gridCol w="6119600"/>
              </a:tblGrid>
              <a:tr h="152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Knowledge partner</a:t>
                      </a:r>
                      <a:endParaRPr sz="1800" u="none" cap="none" strike="noStrike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                                                      Implementation partner</a:t>
                      </a:r>
                      <a:endParaRPr sz="1800">
                        <a:solidFill>
                          <a:schemeClr val="lt1"/>
                        </a:solidFill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4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" name="Google Shape;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75332" y="5852667"/>
            <a:ext cx="1987468" cy="847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TIMindtree - Technology Consulting and Digital Solutions Company" id="68" name="Google Shape;6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852667"/>
            <a:ext cx="3886489" cy="864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56000" y="1474875"/>
            <a:ext cx="10624200" cy="39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defect detection in pharma manufacturing is slow and inconsistent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Root-cause analysis often relies on inspector experience alone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FactoryCAPA combines Computer Vision, ML, and LLMs to analyze tablet defects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Investigates visual, production, and batch evidence together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Recommends explainable corrective and preventive actions (CAPA)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cxnSp>
        <p:nvCxnSpPr>
          <p:cNvPr id="75" name="Google Shape;75;p16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6" name="Google Shape;76;p16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Calibri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FactoryCAPA – AI Quality Intelligence Platform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256000" y="1539425"/>
            <a:ext cx="86706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Automatically detect tablet/pill defects from images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production, batch, supplier, and inspection data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probable root causes behind detected defects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 explainable, evidence-based CAPA recommendations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 manual inspection effort and quality-response time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 sz="240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cxnSp>
        <p:nvCxnSpPr>
          <p:cNvPr id="83" name="Google Shape;83;p17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" name="Google Shape;84;p17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FactoryCAPA – AI Quality Intelligence Platform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3">
            <a:alphaModFix/>
          </a:blip>
          <a:srcRect b="12511" l="9407" r="11146" t="0"/>
          <a:stretch/>
        </p:blipFill>
        <p:spPr>
          <a:xfrm>
            <a:off x="8684650" y="1234800"/>
            <a:ext cx="3291851" cy="491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256000" y="1539425"/>
            <a:ext cx="10624200" cy="38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Covers visual defect detection for pharmaceutical tablets/pills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production, batch, supplier, and inspection records as supporting context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Performs root-cause analysis and CAPA recommendation generation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 CAPA approval remains with the quality team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 sz="240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Scope</a:t>
            </a:r>
            <a:endParaRPr/>
          </a:p>
        </p:txBody>
      </p:sp>
      <p:cxnSp>
        <p:nvCxnSpPr>
          <p:cNvPr id="92" name="Google Shape;92;p18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3" name="Google Shape;93;p18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FactoryCAPA – AI Quality Intelligence Platform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256000" y="1571700"/>
            <a:ext cx="11139600" cy="3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Bergmann et al. (2019) – MVTec AD: benchmark dataset for industrial anomaly detection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et al. (2026) – EMN-Net: lightweight YOLOv8 model for tablet defect detection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ScienceDirect (2025) – CNN-based defect detection in film-coated tablets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Lundberg &amp; Lee (2017) – SHAP framework for explainable predictions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Font typeface="Calibri"/>
              <a:buChar char="•"/>
            </a:pPr>
            <a:r>
              <a:t/>
            </a:r>
            <a:endParaRPr b="0" sz="240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/>
          </a:p>
        </p:txBody>
      </p:sp>
      <p:cxnSp>
        <p:nvCxnSpPr>
          <p:cNvPr id="100" name="Google Shape;100;p19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1" name="Google Shape;101;p19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FactoryCAPA – AI Quality Intelligence Platform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256000" y="1680125"/>
            <a:ext cx="11526900" cy="3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 tablet-defect research focuses on vision-only detection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 models combine visual evidence with production/batch context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Root-cause reasoning is rarely integrated with defect detection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Explainability (SHAP) is underused in pharma quality systems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FactoryCAPA combines vision + multimodal data + explainable CAPA generation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 sz="240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0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Summary of Literature</a:t>
            </a:r>
            <a:endParaRPr/>
          </a:p>
        </p:txBody>
      </p:sp>
      <p:cxnSp>
        <p:nvCxnSpPr>
          <p:cNvPr id="108" name="Google Shape;108;p20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09" name="Google Shape;109;p20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FactoryCAPA – AI Quality Intelligence Platform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256000" y="1680125"/>
            <a:ext cx="8832000" cy="42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stack: Python, OpenCV, PyTorch/Scikit-learn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Backend: FastAPI, Database: PostgreSQL, cloud-deployed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Data: MVTec AD (pill) + PharmaVision blister-pack dataset; synthetic batch/supplier data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•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Novelty: multi-agent LLM + RAG pipeline for evidence-based, explainable CAPA recommendations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583D1"/>
              </a:buClr>
              <a:buSzPts val="2400"/>
              <a:buNone/>
            </a:pPr>
            <a:r>
              <a:t/>
            </a:r>
            <a:endParaRPr b="0" sz="2400">
              <a:solidFill>
                <a:srgbClr val="5583D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1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Additional Information</a:t>
            </a:r>
            <a:endParaRPr/>
          </a:p>
        </p:txBody>
      </p:sp>
      <p:cxnSp>
        <p:nvCxnSpPr>
          <p:cNvPr id="116" name="Google Shape;116;p21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17" name="Google Shape;117;p21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FactoryCAPA – AI Quality Intelligence Platform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1"/>
          <p:cNvPicPr preferRelativeResize="0"/>
          <p:nvPr/>
        </p:nvPicPr>
        <p:blipFill rotWithShape="1">
          <a:blip r:embed="rId3">
            <a:alphaModFix/>
          </a:blip>
          <a:srcRect b="7834" l="9450" r="10325" t="0"/>
          <a:stretch/>
        </p:blipFill>
        <p:spPr>
          <a:xfrm>
            <a:off x="9217150" y="703375"/>
            <a:ext cx="2872299" cy="5303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256000" y="1797600"/>
            <a:ext cx="11462400" cy="3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M1: Defect Detection (Computer Vision)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Detects and localizes visible defects on tablets from image data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Flags cracks, contamination, color and imprint faults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M2: Production &amp; Batch Data Analysis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Correlates detected defects with production, batch, and supplier records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Builds contextual evidence for root-cause investigation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83D1"/>
              </a:solidFill>
            </a:endParaRPr>
          </a:p>
          <a:p>
            <a:pPr indent="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83D1"/>
              </a:solidFill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Modules to cover</a:t>
            </a:r>
            <a:endParaRPr/>
          </a:p>
        </p:txBody>
      </p:sp>
      <p:cxnSp>
        <p:nvCxnSpPr>
          <p:cNvPr id="125" name="Google Shape;125;p22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6" name="Google Shape;126;p22"/>
          <p:cNvSpPr txBox="1"/>
          <p:nvPr/>
        </p:nvSpPr>
        <p:spPr>
          <a:xfrm>
            <a:off x="6093893" y="57036"/>
            <a:ext cx="6098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FactoryCAPA – AI Quality Intelligence Platform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227700" y="1680125"/>
            <a:ext cx="11736600" cy="51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M3: Root-Cause Investigation (Multi-Agent)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Specialized agents analyze visual and historical evidence together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probable causes such as supplier, process, or equipment issues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M4: CAPA Recommendation &amp; Explainability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+ RAG generates evidence-based corrective and preventive actions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Char char="●"/>
            </a:pPr>
            <a:r>
              <a:rPr b="0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Presents transparent, auditable reasoning behind each recommendation</a:t>
            </a:r>
            <a:endParaRPr b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solidFill>
                <a:srgbClr val="242424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3"/>
          <p:cNvSpPr txBox="1"/>
          <p:nvPr/>
        </p:nvSpPr>
        <p:spPr>
          <a:xfrm>
            <a:off x="255996" y="502545"/>
            <a:ext cx="10624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Module</a:t>
            </a:r>
            <a:r>
              <a:rPr b="1" lang="en-US" sz="360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b="1" i="0" sz="3600" u="none" cap="none" strike="noStrik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3" name="Google Shape;133;p23"/>
          <p:cNvCxnSpPr/>
          <p:nvPr/>
        </p:nvCxnSpPr>
        <p:spPr>
          <a:xfrm>
            <a:off x="221274" y="1191756"/>
            <a:ext cx="7305799" cy="0"/>
          </a:xfrm>
          <a:prstGeom prst="straightConnector1">
            <a:avLst/>
          </a:prstGeom>
          <a:noFill/>
          <a:ln cap="flat" cmpd="sng" w="28575">
            <a:solidFill>
              <a:schemeClr val="accent6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4" name="Google Shape;134;p23"/>
          <p:cNvSpPr txBox="1"/>
          <p:nvPr/>
        </p:nvSpPr>
        <p:spPr>
          <a:xfrm>
            <a:off x="6093893" y="57036"/>
            <a:ext cx="6098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</a:pPr>
            <a:r>
              <a:rPr b="1"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FactoryCAPA – AI Quality Intelligence Platform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
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prstClr val="white"/>
                </a:solidFill>
                <a:cs typeface="Calibri" panose="020F0502020204030204" pitchFamily="34" charset="0"/>
              </a:rPr>
              <a:t>TenderBid AI</a:t>
            </a:r>
          </a:p>
          <a:p>
            <a:pPr lvl="0" algn="ctr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Agentic Tender Evaluation &amp; Bid/No-Bid Decision Platform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Ahilya Chauhan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Label 101"/>
          <p:cNvSpPr txBox="1"/>
          <p:nvPr/>
        </p:nvSpPr>
        <p:spPr>
          <a:xfrm>
            <a:off x="274320" y="550468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Implementation Partner</a:t>
            </a:r>
          </a:p>
        </p:txBody>
      </p:sp>
      <p:sp>
        <p:nvSpPr>
          <p:cNvPr id="102" name="Label 102"/>
          <p:cNvSpPr txBox="1"/>
          <p:nvPr/>
        </p:nvSpPr>
        <p:spPr>
          <a:xfrm>
            <a:off x="9464040" y="55046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Knowledge Partner</a:t>
            </a:r>
          </a:p>
        </p:txBody>
      </p:sp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sp>
        <p:nvSpPr>
          <p:cNvPr id="103" name="Card 103"/>
          <p:cNvSpPr/>
          <p:nvPr/>
        </p:nvSpPr>
        <p:spPr>
          <a:xfrm>
            <a:off x="411480" y="1371600"/>
            <a:ext cx="5559552" cy="33832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04" name="TextBox 104"/>
          <p:cNvSpPr txBox="1"/>
          <p:nvPr/>
        </p:nvSpPr>
        <p:spPr>
          <a:xfrm>
            <a:off x="640080" y="1508760"/>
            <a:ext cx="5102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Problem Context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40080" y="1938528"/>
            <a:ext cx="510235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Organizations receive large and complex Tender / RFP documents containing: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40080" y="2560320"/>
            <a:ext cx="25146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Technical specifications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Eligibility and qualification criteria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Financial requirements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Experience requirements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246120" y="2560320"/>
            <a:ext cx="25146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Compliance conditions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Submission deadlines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Commercial and contractual conditions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40080" y="3977640"/>
            <a:ext cx="51023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05A66"/>
                </a:solidFill>
                <a:latin typeface="Calibri"/>
                <a:cs typeface="Calibri"/>
              </a:rPr>
              <a:t>Manual tender evaluation requires extensive document reading and cross-checking against organizational capabilities.</a:t>
            </a:r>
          </a:p>
        </p:txBody>
      </p:sp>
      <p:sp>
        <p:nvSpPr>
          <p:cNvPr id="109" name="Card 109"/>
          <p:cNvSpPr/>
          <p:nvPr/>
        </p:nvSpPr>
        <p:spPr>
          <a:xfrm>
            <a:off x="6217920" y="1371600"/>
            <a:ext cx="5559552" cy="338328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</p:sp>
      <p:sp>
        <p:nvSpPr>
          <p:cNvPr id="110" name="TextBox 110"/>
          <p:cNvSpPr txBox="1"/>
          <p:nvPr/>
        </p:nvSpPr>
        <p:spPr>
          <a:xfrm>
            <a:off x="6446520" y="1508760"/>
            <a:ext cx="5102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Proposed Solution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446520" y="1938528"/>
            <a:ext cx="510235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TenderBid AI is an AI-assisted tender evaluation platform that: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446520" y="2560320"/>
            <a:ext cx="5102352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2A8F8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Ingests tender/RFP documents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2A8F8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Extracts and structures important requirements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2A8F8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Retrieves relevant evidence from tender documents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2A8F8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Evaluates organizational capabilities against requirements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2A8F8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Identifies technical, eligibility, commercial and schedule risks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2A8F8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Generates an evidence-backed BID / NO-BID / REVIEW assessment</a:t>
            </a:r>
          </a:p>
        </p:txBody>
      </p:sp>
      <p:sp>
        <p:nvSpPr>
          <p:cNvPr id="113" name="KeyValue 113"/>
          <p:cNvSpPr/>
          <p:nvPr/>
        </p:nvSpPr>
        <p:spPr>
          <a:xfrm>
            <a:off x="411480" y="4983480"/>
            <a:ext cx="11365992" cy="80467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</p:spPr>
        <p:txBody>
          <a:bodyPr wrap="square" lIns="274320" tIns="45720" rIns="274320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KEY VALUE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  <a:cs typeface="Calibri"/>
              </a:rPr>
              <a:t>Reduce manual effort while improving consistency, traceability and evidence-based tender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sp>
        <p:nvSpPr>
          <p:cNvPr id="114" name="Primary 114"/>
          <p:cNvSpPr/>
          <p:nvPr/>
        </p:nvSpPr>
        <p:spPr>
          <a:xfrm>
            <a:off x="411480" y="1371600"/>
            <a:ext cx="11365992" cy="86868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</p:spPr>
        <p:txBody>
          <a:bodyPr wrap="square" lIns="274320" tIns="45720" rIns="274320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PRIMARY OBJECTIVE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Develop an AI-assisted platform that analyzes tender documents and evaluates whether an organization should pursue a tender based on capability, eligibility, risk and feasibility.</a:t>
            </a:r>
          </a:p>
        </p:txBody>
      </p:sp>
      <p:sp>
        <p:nvSpPr>
          <p:cNvPr id="115" name="Card 115"/>
          <p:cNvSpPr/>
          <p:nvPr/>
        </p:nvSpPr>
        <p:spPr>
          <a:xfrm>
            <a:off x="411480" y="242316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16" name="Badge 116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Document Intelligence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24712" y="288036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Extract structured information from unstructured tender/RFP documents.</a:t>
            </a:r>
          </a:p>
        </p:txBody>
      </p:sp>
      <p:sp>
        <p:nvSpPr>
          <p:cNvPr id="119" name="Card 119"/>
          <p:cNvSpPr/>
          <p:nvPr/>
        </p:nvSpPr>
        <p:spPr>
          <a:xfrm>
            <a:off x="4265676" y="242316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20" name="Badge 120"/>
          <p:cNvSpPr/>
          <p:nvPr/>
        </p:nvSpPr>
        <p:spPr>
          <a:xfrm>
            <a:off x="4402836" y="257860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978908" y="25420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Requirement Understanding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4978908" y="288036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Identify technical, eligibility, commercial and schedule requirements.</a:t>
            </a:r>
          </a:p>
        </p:txBody>
      </p:sp>
      <p:sp>
        <p:nvSpPr>
          <p:cNvPr id="123" name="Card 123"/>
          <p:cNvSpPr/>
          <p:nvPr/>
        </p:nvSpPr>
        <p:spPr>
          <a:xfrm>
            <a:off x="8119872" y="242316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24" name="Badge 124"/>
          <p:cNvSpPr/>
          <p:nvPr/>
        </p:nvSpPr>
        <p:spPr>
          <a:xfrm>
            <a:off x="8257032" y="257860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8833104" y="25420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Capability Matching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8833104" y="288036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Compare tender requirements against the organization's profile, experience and capabilities.</a:t>
            </a:r>
          </a:p>
        </p:txBody>
      </p:sp>
      <p:sp>
        <p:nvSpPr>
          <p:cNvPr id="127" name="Card 127"/>
          <p:cNvSpPr/>
          <p:nvPr/>
        </p:nvSpPr>
        <p:spPr>
          <a:xfrm>
            <a:off x="411480" y="374904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28" name="Badge 128"/>
          <p:cNvSpPr/>
          <p:nvPr/>
        </p:nvSpPr>
        <p:spPr>
          <a:xfrm>
            <a:off x="548640" y="390448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124712" y="3867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Risk Identification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124712" y="420624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Detect potential compliance, commercial and schedule-related risks.</a:t>
            </a:r>
          </a:p>
        </p:txBody>
      </p:sp>
      <p:sp>
        <p:nvSpPr>
          <p:cNvPr id="131" name="Card 131"/>
          <p:cNvSpPr/>
          <p:nvPr/>
        </p:nvSpPr>
        <p:spPr>
          <a:xfrm>
            <a:off x="4265676" y="374904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32" name="Badge 132"/>
          <p:cNvSpPr/>
          <p:nvPr/>
        </p:nvSpPr>
        <p:spPr>
          <a:xfrm>
            <a:off x="4402836" y="390448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4978908" y="3867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Evidence-Based Reasoning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978908" y="420624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Provide supporting tender evidence for important assessments.</a:t>
            </a:r>
          </a:p>
        </p:txBody>
      </p:sp>
      <p:sp>
        <p:nvSpPr>
          <p:cNvPr id="135" name="Card 135"/>
          <p:cNvSpPr/>
          <p:nvPr/>
        </p:nvSpPr>
        <p:spPr>
          <a:xfrm>
            <a:off x="8119872" y="374904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36" name="Badge 136"/>
          <p:cNvSpPr/>
          <p:nvPr/>
        </p:nvSpPr>
        <p:spPr>
          <a:xfrm>
            <a:off x="8257032" y="390448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8833104" y="3867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Decision Support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8833104" y="420624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Generate BID / NO-BID / REVIEW with traceable reasoning.</a:t>
            </a:r>
          </a:p>
        </p:txBody>
      </p:sp>
      <p:sp>
        <p:nvSpPr>
          <p:cNvPr id="139" name="Principle 139"/>
          <p:cNvSpPr/>
          <p:nvPr/>
        </p:nvSpPr>
        <p:spPr>
          <a:xfrm>
            <a:off x="411480" y="5166360"/>
            <a:ext cx="11365992" cy="548640"/>
          </a:xfrm>
          <a:prstGeom prst="roundRect">
            <a:avLst>
              <a:gd name="adj" fmla="val 12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274320" tIns="27432" rIns="274320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Design Principle:  </a:t>
            </a:r>
            <a:r>
              <a:rPr lang="en-US" sz="1400" b="0" i="1" dirty="0">
                <a:solidFill>
                  <a:srgbClr val="242424"/>
                </a:solidFill>
                <a:latin typeface="Calibri"/>
                <a:cs typeface="Calibri"/>
              </a:rPr>
              <a:t>AI assists the decision-maker; it does not replace final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System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sp>
        <p:nvSpPr>
          <p:cNvPr id="140" name="Card 140"/>
          <p:cNvSpPr/>
          <p:nvPr/>
        </p:nvSpPr>
        <p:spPr>
          <a:xfrm>
            <a:off x="411480" y="1371600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41" name="Badge 141"/>
          <p:cNvSpPr/>
          <p:nvPr/>
        </p:nvSpPr>
        <p:spPr>
          <a:xfrm>
            <a:off x="566928" y="1636776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188720" y="1481328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Tender Ingestion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PDF / RFP upload</a:t>
            </a:r>
          </a:p>
        </p:txBody>
      </p:sp>
      <p:sp>
        <p:nvSpPr>
          <p:cNvPr id="143" name="Card 143"/>
          <p:cNvSpPr/>
          <p:nvPr/>
        </p:nvSpPr>
        <p:spPr>
          <a:xfrm>
            <a:off x="4265676" y="1371600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44" name="Badge 144"/>
          <p:cNvSpPr/>
          <p:nvPr/>
        </p:nvSpPr>
        <p:spPr>
          <a:xfrm>
            <a:off x="4421124" y="1636776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5042916" y="1481328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Document Processing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Text and page-level extraction</a:t>
            </a:r>
          </a:p>
        </p:txBody>
      </p:sp>
      <p:sp>
        <p:nvSpPr>
          <p:cNvPr id="146" name="Card 146"/>
          <p:cNvSpPr/>
          <p:nvPr/>
        </p:nvSpPr>
        <p:spPr>
          <a:xfrm>
            <a:off x="8119872" y="1371600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47" name="Badge 147"/>
          <p:cNvSpPr/>
          <p:nvPr/>
        </p:nvSpPr>
        <p:spPr>
          <a:xfrm>
            <a:off x="8275320" y="1636776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8897112" y="1481328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Requirement Engine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Technical / Eligibility / Commercial / Schedule</a:t>
            </a:r>
          </a:p>
        </p:txBody>
      </p:sp>
      <p:sp>
        <p:nvSpPr>
          <p:cNvPr id="149" name="Card 149"/>
          <p:cNvSpPr/>
          <p:nvPr/>
        </p:nvSpPr>
        <p:spPr>
          <a:xfrm>
            <a:off x="411480" y="2496312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50" name="Badge 150"/>
          <p:cNvSpPr/>
          <p:nvPr/>
        </p:nvSpPr>
        <p:spPr>
          <a:xfrm>
            <a:off x="566928" y="276148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188720" y="2606040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Hybrid RAG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Semantic + keyword-based evidence retrieval</a:t>
            </a:r>
          </a:p>
        </p:txBody>
      </p:sp>
      <p:sp>
        <p:nvSpPr>
          <p:cNvPr id="152" name="Card 152"/>
          <p:cNvSpPr/>
          <p:nvPr/>
        </p:nvSpPr>
        <p:spPr>
          <a:xfrm>
            <a:off x="4265676" y="2496312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53" name="Badge 153"/>
          <p:cNvSpPr/>
          <p:nvPr/>
        </p:nvSpPr>
        <p:spPr>
          <a:xfrm>
            <a:off x="4421124" y="276148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042916" y="2606040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Capability Matching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Tender requirements ↔ Company profile</a:t>
            </a:r>
          </a:p>
        </p:txBody>
      </p:sp>
      <p:sp>
        <p:nvSpPr>
          <p:cNvPr id="155" name="Card 155"/>
          <p:cNvSpPr/>
          <p:nvPr/>
        </p:nvSpPr>
        <p:spPr>
          <a:xfrm>
            <a:off x="8119872" y="2496312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56" name="Badge 156"/>
          <p:cNvSpPr/>
          <p:nvPr/>
        </p:nvSpPr>
        <p:spPr>
          <a:xfrm>
            <a:off x="8275320" y="2761488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8897112" y="2606040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Multi-Agent Analysis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Specialized AI agents for different evaluation dimensions</a:t>
            </a:r>
          </a:p>
        </p:txBody>
      </p:sp>
      <p:sp>
        <p:nvSpPr>
          <p:cNvPr id="158" name="Card 158"/>
          <p:cNvSpPr/>
          <p:nvPr/>
        </p:nvSpPr>
        <p:spPr>
          <a:xfrm>
            <a:off x="411480" y="3621024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59" name="Badge 159"/>
          <p:cNvSpPr/>
          <p:nvPr/>
        </p:nvSpPr>
        <p:spPr>
          <a:xfrm>
            <a:off x="566928" y="3886200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1188720" y="3730752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Risk Analysis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Identify constraints, risks and compliance gaps</a:t>
            </a:r>
          </a:p>
        </p:txBody>
      </p:sp>
      <p:sp>
        <p:nvSpPr>
          <p:cNvPr id="161" name="Card 161"/>
          <p:cNvSpPr/>
          <p:nvPr/>
        </p:nvSpPr>
        <p:spPr>
          <a:xfrm>
            <a:off x="4265676" y="3621024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62" name="Badge 162"/>
          <p:cNvSpPr/>
          <p:nvPr/>
        </p:nvSpPr>
        <p:spPr>
          <a:xfrm>
            <a:off x="4421124" y="3886200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042916" y="3730752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Decision Engine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BID / NO-BID / REVIEW</a:t>
            </a:r>
          </a:p>
        </p:txBody>
      </p:sp>
      <p:sp>
        <p:nvSpPr>
          <p:cNvPr id="164" name="Card 164"/>
          <p:cNvSpPr/>
          <p:nvPr/>
        </p:nvSpPr>
        <p:spPr>
          <a:xfrm>
            <a:off x="8119872" y="3621024"/>
            <a:ext cx="3657600" cy="987552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65" name="Badge 165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rgbClr val="1C4D9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8897112" y="3730752"/>
            <a:ext cx="27706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Evidence Report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505A66"/>
                </a:solidFill>
                <a:latin typeface="Calibri"/>
                <a:cs typeface="Calibri"/>
              </a:rPr>
              <a:t>Decision supported by relevant tender evidence</a:t>
            </a:r>
          </a:p>
        </p:txBody>
      </p:sp>
      <p:sp>
        <p:nvSpPr>
          <p:cNvPr id="167" name="Flow 167"/>
          <p:cNvSpPr/>
          <p:nvPr/>
        </p:nvSpPr>
        <p:spPr>
          <a:xfrm>
            <a:off x="411480" y="498348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Tender Document</a:t>
            </a:r>
          </a:p>
        </p:txBody>
      </p:sp>
      <p:sp>
        <p:nvSpPr>
          <p:cNvPr id="168" name="Arrow 168"/>
          <p:cNvSpPr/>
          <p:nvPr/>
        </p:nvSpPr>
        <p:spPr>
          <a:xfrm>
            <a:off x="2414016" y="5212080"/>
            <a:ext cx="276606" cy="256032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169" name="Flow 169"/>
          <p:cNvSpPr/>
          <p:nvPr/>
        </p:nvSpPr>
        <p:spPr>
          <a:xfrm>
            <a:off x="2772918" y="498348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</a:p>
        </p:txBody>
      </p:sp>
      <p:sp>
        <p:nvSpPr>
          <p:cNvPr id="170" name="Arrow 170"/>
          <p:cNvSpPr/>
          <p:nvPr/>
        </p:nvSpPr>
        <p:spPr>
          <a:xfrm>
            <a:off x="4775454" y="5212080"/>
            <a:ext cx="276606" cy="256032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171" name="Flow 171"/>
          <p:cNvSpPr/>
          <p:nvPr/>
        </p:nvSpPr>
        <p:spPr>
          <a:xfrm>
            <a:off x="5134356" y="498348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2C7A9B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Retrieval</a:t>
            </a:r>
          </a:p>
        </p:txBody>
      </p:sp>
      <p:sp>
        <p:nvSpPr>
          <p:cNvPr id="172" name="Arrow 172"/>
          <p:cNvSpPr/>
          <p:nvPr/>
        </p:nvSpPr>
        <p:spPr>
          <a:xfrm>
            <a:off x="7136892" y="5212080"/>
            <a:ext cx="276606" cy="256032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173" name="Flow 173"/>
          <p:cNvSpPr/>
          <p:nvPr/>
        </p:nvSpPr>
        <p:spPr>
          <a:xfrm>
            <a:off x="7495794" y="498348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2A8F86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Agent Analysis</a:t>
            </a:r>
          </a:p>
        </p:txBody>
      </p:sp>
      <p:sp>
        <p:nvSpPr>
          <p:cNvPr id="174" name="Arrow 174"/>
          <p:cNvSpPr/>
          <p:nvPr/>
        </p:nvSpPr>
        <p:spPr>
          <a:xfrm>
            <a:off x="9498330" y="5212080"/>
            <a:ext cx="276606" cy="256032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175" name="Flow 175"/>
          <p:cNvSpPr/>
          <p:nvPr/>
        </p:nvSpPr>
        <p:spPr>
          <a:xfrm>
            <a:off x="9857232" y="498348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sp>
        <p:nvSpPr>
          <p:cNvPr id="176" name="StageHead 176"/>
          <p:cNvSpPr/>
          <p:nvPr/>
        </p:nvSpPr>
        <p:spPr>
          <a:xfrm>
            <a:off x="411480" y="1371600"/>
            <a:ext cx="3611880" cy="65836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228600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STAGE 1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Document Intelligence</a:t>
            </a:r>
          </a:p>
        </p:txBody>
      </p:sp>
      <p:sp>
        <p:nvSpPr>
          <p:cNvPr id="177" name="Card 177"/>
          <p:cNvSpPr/>
          <p:nvPr/>
        </p:nvSpPr>
        <p:spPr>
          <a:xfrm>
            <a:off x="411480" y="2121408"/>
            <a:ext cx="3611880" cy="36118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78" name="Arrow 178"/>
          <p:cNvSpPr/>
          <p:nvPr/>
        </p:nvSpPr>
        <p:spPr>
          <a:xfrm>
            <a:off x="4041648" y="1572768"/>
            <a:ext cx="228600" cy="256032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179" name="StageHead 179"/>
          <p:cNvSpPr/>
          <p:nvPr/>
        </p:nvSpPr>
        <p:spPr>
          <a:xfrm>
            <a:off x="4288536" y="1371600"/>
            <a:ext cx="3611880" cy="65836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228600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STAGE 2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Hybrid RAG</a:t>
            </a:r>
          </a:p>
        </p:txBody>
      </p:sp>
      <p:sp>
        <p:nvSpPr>
          <p:cNvPr id="180" name="Card 180"/>
          <p:cNvSpPr/>
          <p:nvPr/>
        </p:nvSpPr>
        <p:spPr>
          <a:xfrm>
            <a:off x="4288536" y="2121408"/>
            <a:ext cx="3611880" cy="36118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81" name="Arrow 181"/>
          <p:cNvSpPr/>
          <p:nvPr/>
        </p:nvSpPr>
        <p:spPr>
          <a:xfrm>
            <a:off x="7918704" y="1572768"/>
            <a:ext cx="228600" cy="256032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182" name="StageHead 182"/>
          <p:cNvSpPr/>
          <p:nvPr/>
        </p:nvSpPr>
        <p:spPr>
          <a:xfrm>
            <a:off x="8165592" y="1371600"/>
            <a:ext cx="3611880" cy="65836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228600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STAGE 3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Multi-Agent Analysis</a:t>
            </a:r>
          </a:p>
        </p:txBody>
      </p:sp>
      <p:sp>
        <p:nvSpPr>
          <p:cNvPr id="183" name="Card 183"/>
          <p:cNvSpPr/>
          <p:nvPr/>
        </p:nvSpPr>
        <p:spPr>
          <a:xfrm>
            <a:off x="8165592" y="2121408"/>
            <a:ext cx="3611880" cy="36118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184" name="TextBox 184"/>
          <p:cNvSpPr txBox="1"/>
          <p:nvPr/>
        </p:nvSpPr>
        <p:spPr>
          <a:xfrm>
            <a:off x="640080" y="228600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2424"/>
                </a:solidFill>
                <a:latin typeface="Calibri"/>
                <a:cs typeface="Calibri"/>
              </a:rPr>
              <a:t>Each chunk retains source information such as:</a:t>
            </a:r>
          </a:p>
        </p:txBody>
      </p:sp>
      <p:sp>
        <p:nvSpPr>
          <p:cNvPr id="185" name="Tag 185"/>
          <p:cNvSpPr/>
          <p:nvPr/>
        </p:nvSpPr>
        <p:spPr>
          <a:xfrm>
            <a:off x="640080" y="2834640"/>
            <a:ext cx="31546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27432" rIns="91440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Tender ID</a:t>
            </a:r>
          </a:p>
        </p:txBody>
      </p:sp>
      <p:sp>
        <p:nvSpPr>
          <p:cNvPr id="186" name="Tag 186"/>
          <p:cNvSpPr/>
          <p:nvPr/>
        </p:nvSpPr>
        <p:spPr>
          <a:xfrm>
            <a:off x="640080" y="3547872"/>
            <a:ext cx="31546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27432" rIns="91440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Page number</a:t>
            </a:r>
          </a:p>
        </p:txBody>
      </p:sp>
      <p:sp>
        <p:nvSpPr>
          <p:cNvPr id="187" name="Tag 187"/>
          <p:cNvSpPr/>
          <p:nvPr/>
        </p:nvSpPr>
        <p:spPr>
          <a:xfrm>
            <a:off x="640080" y="4261104"/>
            <a:ext cx="31546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27432" rIns="91440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Document source</a:t>
            </a:r>
          </a:p>
        </p:txBody>
      </p:sp>
      <p:sp>
        <p:nvSpPr>
          <p:cNvPr id="188" name="Tag 188"/>
          <p:cNvSpPr/>
          <p:nvPr/>
        </p:nvSpPr>
        <p:spPr>
          <a:xfrm>
            <a:off x="640080" y="4974336"/>
            <a:ext cx="31546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27432" rIns="91440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Section / context</a:t>
            </a:r>
          </a:p>
        </p:txBody>
      </p:sp>
      <p:sp>
        <p:nvSpPr>
          <p:cNvPr id="189" name="Block 189"/>
          <p:cNvSpPr/>
          <p:nvPr/>
        </p:nvSpPr>
        <p:spPr>
          <a:xfrm>
            <a:off x="4471416" y="2258568"/>
            <a:ext cx="32461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Semantic Retrieval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Uses embeddings to identify conceptually relevant content.</a:t>
            </a:r>
          </a:p>
        </p:txBody>
      </p:sp>
      <p:sp>
        <p:nvSpPr>
          <p:cNvPr id="190" name="Block 190"/>
          <p:cNvSpPr/>
          <p:nvPr/>
        </p:nvSpPr>
        <p:spPr>
          <a:xfrm>
            <a:off x="4471416" y="3154680"/>
            <a:ext cx="32461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Keyword Retrieval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Identifies exact terms, numbers, dates and clauses.</a:t>
            </a:r>
          </a:p>
        </p:txBody>
      </p:sp>
      <p:sp>
        <p:nvSpPr>
          <p:cNvPr id="191" name="Hybrid 191"/>
          <p:cNvSpPr/>
          <p:nvPr/>
        </p:nvSpPr>
        <p:spPr>
          <a:xfrm>
            <a:off x="4471416" y="411480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37160" tIns="45720" rIns="109728" bIns="45720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Hybrid Retrieval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2A8F86"/>
                </a:solidFill>
                <a:latin typeface="Calibri"/>
                <a:cs typeface="Calibri"/>
              </a:rPr>
              <a:t>Why Hybrid RAG?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Tender documents contain both conceptual requirements and exact contractual / qualification terms. Combining both retrieval approaches improves evidence retrieval.</a:t>
            </a:r>
          </a:p>
        </p:txBody>
      </p:sp>
      <p:sp>
        <p:nvSpPr>
          <p:cNvPr id="192" name="Agent 192"/>
          <p:cNvSpPr/>
          <p:nvPr/>
        </p:nvSpPr>
        <p:spPr>
          <a:xfrm>
            <a:off x="8348472" y="2258568"/>
            <a:ext cx="324612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Technical Fit Agent</a:t>
            </a:r>
          </a:p>
        </p:txBody>
      </p:sp>
      <p:sp>
        <p:nvSpPr>
          <p:cNvPr id="193" name="Agent 193"/>
          <p:cNvSpPr/>
          <p:nvPr/>
        </p:nvSpPr>
        <p:spPr>
          <a:xfrm>
            <a:off x="8348472" y="2752344"/>
            <a:ext cx="324612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Eligibility Agent</a:t>
            </a:r>
          </a:p>
        </p:txBody>
      </p:sp>
      <p:sp>
        <p:nvSpPr>
          <p:cNvPr id="194" name="Agent 194"/>
          <p:cNvSpPr/>
          <p:nvPr/>
        </p:nvSpPr>
        <p:spPr>
          <a:xfrm>
            <a:off x="8348472" y="3246120"/>
            <a:ext cx="324612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Commercial Risk Agent</a:t>
            </a:r>
          </a:p>
        </p:txBody>
      </p:sp>
      <p:sp>
        <p:nvSpPr>
          <p:cNvPr id="195" name="Agent 195"/>
          <p:cNvSpPr/>
          <p:nvPr/>
        </p:nvSpPr>
        <p:spPr>
          <a:xfrm>
            <a:off x="8348472" y="3739896"/>
            <a:ext cx="324612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Schedule Feasibility Agent</a:t>
            </a:r>
          </a:p>
        </p:txBody>
      </p:sp>
      <p:sp>
        <p:nvSpPr>
          <p:cNvPr id="196" name="Arrow 196"/>
          <p:cNvSpPr/>
          <p:nvPr/>
        </p:nvSpPr>
        <p:spPr>
          <a:xfrm>
            <a:off x="9816084" y="4297680"/>
            <a:ext cx="310896" cy="182880"/>
          </a:xfrm>
          <a:prstGeom prst="down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197" name="Decision 197"/>
          <p:cNvSpPr/>
          <p:nvPr/>
        </p:nvSpPr>
        <p:spPr>
          <a:xfrm>
            <a:off x="8348472" y="4526280"/>
            <a:ext cx="3246120" cy="420624"/>
          </a:xfrm>
          <a:prstGeom prst="roundRect">
            <a:avLst>
              <a:gd name="adj" fmla="val 16000"/>
            </a:avLst>
          </a:prstGeom>
          <a:solidFill>
            <a:srgbClr val="1C4D98"/>
          </a:solidFill>
          <a:ln>
            <a:noFill/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Decision Agent</a:t>
            </a:r>
          </a:p>
        </p:txBody>
      </p:sp>
      <p:sp>
        <p:nvSpPr>
          <p:cNvPr id="198" name="Final 198"/>
          <p:cNvSpPr/>
          <p:nvPr/>
        </p:nvSpPr>
        <p:spPr>
          <a:xfrm>
            <a:off x="8348472" y="5047488"/>
            <a:ext cx="3246120" cy="566928"/>
          </a:xfrm>
          <a:prstGeom prst="roundRect">
            <a:avLst>
              <a:gd name="adj" fmla="val 14000"/>
            </a:avLst>
          </a:prstGeom>
          <a:solidFill>
            <a:srgbClr val="2A8F86"/>
          </a:solidFill>
          <a:ln>
            <a:noFill/>
          </a:ln>
        </p:spPr>
        <p:txBody>
          <a:bodyPr wrap="square" lIns="137160" tIns="27432" rIns="91440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E6F5F2"/>
                </a:solidFill>
                <a:latin typeface="Calibri"/>
                <a:cs typeface="Calibri"/>
              </a:rPr>
              <a:t>FINAL OUTPUT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BID / NO-BID / REVIEW + Supporting Evidence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sp>
        <p:nvSpPr>
          <p:cNvPr id="199" name="Card 199"/>
          <p:cNvSpPr/>
          <p:nvPr/>
        </p:nvSpPr>
        <p:spPr>
          <a:xfrm>
            <a:off x="411480" y="137160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200" name="TextBox 200"/>
          <p:cNvSpPr txBox="1"/>
          <p:nvPr/>
        </p:nvSpPr>
        <p:spPr>
          <a:xfrm>
            <a:off x="594360" y="148132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Data Source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594360" y="1810512"/>
            <a:ext cx="33375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Publicly available procurement/tender documents such as TED (Tenders Electronic Daily) are used as realistic tender/RFP data for development and testing.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11480" y="294436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Current RAG Configuration</a:t>
            </a:r>
          </a:p>
        </p:txBody>
      </p:sp>
      <p:graphicFrame>
        <p:nvGraphicFramePr>
          <p:cNvPr id="203" name="Table 203"/>
          <p:cNvGraphicFramePr>
            <a:graphicFrameLocks noGrp="1"/>
          </p:cNvGraphicFramePr>
          <p:nvPr/>
        </p:nvGraphicFramePr>
        <p:xfrm>
          <a:off x="411480" y="3291840"/>
          <a:ext cx="3703320" cy="2011680"/>
        </p:xfrm>
        <a:graphic>
          <a:graphicData uri="http://schemas.openxmlformats.org/drawingml/2006/table">
            <a:tbl>
              <a:tblPr firstRow="1"/>
              <a:tblGrid>
                <a:gridCol w="1325880"/>
                <a:gridCol w="2377440"/>
              </a:tblGrid>
              <a:tr h="40233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Chunk Size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~800 characters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Chunk Overlap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~100 characters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Metadata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Page / source information retained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Embeddings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Sentence Transformer-based embeddings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Vector Database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Qdrant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4" name="TextBox 204"/>
          <p:cNvSpPr txBox="1"/>
          <p:nvPr/>
        </p:nvSpPr>
        <p:spPr>
          <a:xfrm>
            <a:off x="4389120" y="1371600"/>
            <a:ext cx="73883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Preprocessing Pipeline</a:t>
            </a:r>
          </a:p>
        </p:txBody>
      </p:sp>
      <p:sp>
        <p:nvSpPr>
          <p:cNvPr id="205" name="Step 205"/>
          <p:cNvSpPr/>
          <p:nvPr/>
        </p:nvSpPr>
        <p:spPr>
          <a:xfrm>
            <a:off x="4389120" y="1737360"/>
            <a:ext cx="1048512" cy="960120"/>
          </a:xfrm>
          <a:prstGeom prst="roundRect">
            <a:avLst>
              <a:gd name="adj" fmla="val 9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1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Tender PDF upload</a:t>
            </a:r>
          </a:p>
        </p:txBody>
      </p:sp>
      <p:sp>
        <p:nvSpPr>
          <p:cNvPr id="206" name="Arrow 206"/>
          <p:cNvSpPr/>
          <p:nvPr/>
        </p:nvSpPr>
        <p:spPr>
          <a:xfrm>
            <a:off x="5465064" y="2121408"/>
            <a:ext cx="164592" cy="201168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207" name="Step 207"/>
          <p:cNvSpPr/>
          <p:nvPr/>
        </p:nvSpPr>
        <p:spPr>
          <a:xfrm>
            <a:off x="5657088" y="1737360"/>
            <a:ext cx="1048512" cy="960120"/>
          </a:xfrm>
          <a:prstGeom prst="roundRect">
            <a:avLst>
              <a:gd name="adj" fmla="val 9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2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Text &amp; page extraction</a:t>
            </a:r>
          </a:p>
        </p:txBody>
      </p:sp>
      <p:sp>
        <p:nvSpPr>
          <p:cNvPr id="208" name="Arrow 208"/>
          <p:cNvSpPr/>
          <p:nvPr/>
        </p:nvSpPr>
        <p:spPr>
          <a:xfrm>
            <a:off x="6733032" y="2121408"/>
            <a:ext cx="164592" cy="201168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209" name="Step 209"/>
          <p:cNvSpPr/>
          <p:nvPr/>
        </p:nvSpPr>
        <p:spPr>
          <a:xfrm>
            <a:off x="6925056" y="1737360"/>
            <a:ext cx="1048512" cy="960120"/>
          </a:xfrm>
          <a:prstGeom prst="roundRect">
            <a:avLst>
              <a:gd name="adj" fmla="val 9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3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Chunking (~800 / ~100)</a:t>
            </a:r>
          </a:p>
        </p:txBody>
      </p:sp>
      <p:sp>
        <p:nvSpPr>
          <p:cNvPr id="210" name="Arrow 210"/>
          <p:cNvSpPr/>
          <p:nvPr/>
        </p:nvSpPr>
        <p:spPr>
          <a:xfrm>
            <a:off x="8001000" y="2121408"/>
            <a:ext cx="164592" cy="201168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211" name="Step 211"/>
          <p:cNvSpPr/>
          <p:nvPr/>
        </p:nvSpPr>
        <p:spPr>
          <a:xfrm>
            <a:off x="8193024" y="1737360"/>
            <a:ext cx="1048512" cy="960120"/>
          </a:xfrm>
          <a:prstGeom prst="roundRect">
            <a:avLst>
              <a:gd name="adj" fmla="val 9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4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Metadata tagging</a:t>
            </a:r>
          </a:p>
        </p:txBody>
      </p:sp>
      <p:sp>
        <p:nvSpPr>
          <p:cNvPr id="212" name="Arrow 212"/>
          <p:cNvSpPr/>
          <p:nvPr/>
        </p:nvSpPr>
        <p:spPr>
          <a:xfrm>
            <a:off x="9268968" y="2121408"/>
            <a:ext cx="164592" cy="201168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213" name="Step 213"/>
          <p:cNvSpPr/>
          <p:nvPr/>
        </p:nvSpPr>
        <p:spPr>
          <a:xfrm>
            <a:off x="9460992" y="1737360"/>
            <a:ext cx="1048512" cy="960120"/>
          </a:xfrm>
          <a:prstGeom prst="roundRect">
            <a:avLst>
              <a:gd name="adj" fmla="val 9000"/>
            </a:avLst>
          </a:prstGeom>
          <a:solidFill>
            <a:srgbClr val="1C4D98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5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Embedding generation</a:t>
            </a:r>
          </a:p>
        </p:txBody>
      </p:sp>
      <p:sp>
        <p:nvSpPr>
          <p:cNvPr id="214" name="Arrow 214"/>
          <p:cNvSpPr/>
          <p:nvPr/>
        </p:nvSpPr>
        <p:spPr>
          <a:xfrm>
            <a:off x="10536936" y="2121408"/>
            <a:ext cx="164592" cy="201168"/>
          </a:xfrm>
          <a:prstGeom prst="rightArrow">
            <a:avLst/>
          </a:prstGeom>
          <a:solidFill>
            <a:srgbClr val="5583D1"/>
          </a:solidFill>
          <a:ln>
            <a:noFill/>
          </a:ln>
        </p:spPr>
      </p:sp>
      <p:sp>
        <p:nvSpPr>
          <p:cNvPr id="215" name="Step 215"/>
          <p:cNvSpPr/>
          <p:nvPr/>
        </p:nvSpPr>
        <p:spPr>
          <a:xfrm>
            <a:off x="10728960" y="1737360"/>
            <a:ext cx="1048512" cy="960120"/>
          </a:xfrm>
          <a:prstGeom prst="roundRect">
            <a:avLst>
              <a:gd name="adj" fmla="val 9000"/>
            </a:avLst>
          </a:prstGeom>
          <a:solidFill>
            <a:srgbClr val="2A8F86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ADCFC"/>
                </a:solidFill>
                <a:latin typeface="Calibri"/>
                <a:cs typeface="Calibri"/>
              </a:rPr>
              <a:t>6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Qdrant storage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4389120" y="2944368"/>
            <a:ext cx="73883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Requirement Analysis / EDA</a:t>
            </a:r>
            <a:r>
              <a:rPr lang="en-US" sz="1200" b="0" i="1" dirty="0">
                <a:solidFill>
                  <a:srgbClr val="505A66"/>
                </a:solidFill>
                <a:latin typeface="Calibri"/>
                <a:cs typeface="Calibri"/>
              </a:rPr>
              <a:t>   The system analyzes:</a:t>
            </a:r>
          </a:p>
        </p:txBody>
      </p:sp>
      <p:sp>
        <p:nvSpPr>
          <p:cNvPr id="217" name="Chip 217"/>
          <p:cNvSpPr/>
          <p:nvPr/>
        </p:nvSpPr>
        <p:spPr>
          <a:xfrm>
            <a:off x="4389120" y="3310128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Number of pages and extracted text volume</a:t>
            </a:r>
          </a:p>
        </p:txBody>
      </p:sp>
      <p:sp>
        <p:nvSpPr>
          <p:cNvPr id="218" name="Chip 218"/>
          <p:cNvSpPr/>
          <p:nvPr/>
        </p:nvSpPr>
        <p:spPr>
          <a:xfrm>
            <a:off x="4389120" y="3739896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Technical requirements</a:t>
            </a:r>
          </a:p>
        </p:txBody>
      </p:sp>
      <p:sp>
        <p:nvSpPr>
          <p:cNvPr id="219" name="Chip 219"/>
          <p:cNvSpPr/>
          <p:nvPr/>
        </p:nvSpPr>
        <p:spPr>
          <a:xfrm>
            <a:off x="4389120" y="4169664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Eligibility requirements</a:t>
            </a:r>
          </a:p>
        </p:txBody>
      </p:sp>
      <p:sp>
        <p:nvSpPr>
          <p:cNvPr id="220" name="Chip 220"/>
          <p:cNvSpPr/>
          <p:nvPr/>
        </p:nvSpPr>
        <p:spPr>
          <a:xfrm>
            <a:off x="4389120" y="4599432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Commercial requirements</a:t>
            </a:r>
          </a:p>
        </p:txBody>
      </p:sp>
      <p:sp>
        <p:nvSpPr>
          <p:cNvPr id="221" name="Chip 221"/>
          <p:cNvSpPr/>
          <p:nvPr/>
        </p:nvSpPr>
        <p:spPr>
          <a:xfrm>
            <a:off x="4389120" y="5029200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Mandatory vs optional conditions</a:t>
            </a:r>
          </a:p>
        </p:txBody>
      </p:sp>
      <p:sp>
        <p:nvSpPr>
          <p:cNvPr id="222" name="Chip 222"/>
          <p:cNvSpPr/>
          <p:nvPr/>
        </p:nvSpPr>
        <p:spPr>
          <a:xfrm>
            <a:off x="8151876" y="3310128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Experience requirements</a:t>
            </a:r>
          </a:p>
        </p:txBody>
      </p:sp>
      <p:sp>
        <p:nvSpPr>
          <p:cNvPr id="223" name="Chip 223"/>
          <p:cNvSpPr/>
          <p:nvPr/>
        </p:nvSpPr>
        <p:spPr>
          <a:xfrm>
            <a:off x="8151876" y="3739896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Financial / turnover requirements</a:t>
            </a:r>
          </a:p>
        </p:txBody>
      </p:sp>
      <p:sp>
        <p:nvSpPr>
          <p:cNvPr id="224" name="Chip 224"/>
          <p:cNvSpPr/>
          <p:nvPr/>
        </p:nvSpPr>
        <p:spPr>
          <a:xfrm>
            <a:off x="8151876" y="4169664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Submission deadlines</a:t>
            </a:r>
          </a:p>
        </p:txBody>
      </p:sp>
      <p:sp>
        <p:nvSpPr>
          <p:cNvPr id="225" name="Chip 225"/>
          <p:cNvSpPr/>
          <p:nvPr/>
        </p:nvSpPr>
        <p:spPr>
          <a:xfrm>
            <a:off x="8151876" y="4599432"/>
            <a:ext cx="3625596" cy="36576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37160" tIns="18288" rIns="9144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Compliance constraints</a:t>
            </a:r>
          </a:p>
        </p:txBody>
      </p:sp>
      <p:sp>
        <p:nvSpPr>
          <p:cNvPr id="226" name="StructLabel 226"/>
          <p:cNvSpPr/>
          <p:nvPr/>
        </p:nvSpPr>
        <p:spPr>
          <a:xfrm>
            <a:off x="4389120" y="5486400"/>
            <a:ext cx="2103120" cy="50292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>
            <a:noFill/>
          </a:ln>
        </p:spPr>
        <p:txBody>
          <a:bodyPr wrap="square" lIns="109728" tIns="18288" rIns="73152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Structured Requirement Representation</a:t>
            </a:r>
          </a:p>
        </p:txBody>
      </p:sp>
      <p:sp>
        <p:nvSpPr>
          <p:cNvPr id="227" name="Field 227"/>
          <p:cNvSpPr/>
          <p:nvPr/>
        </p:nvSpPr>
        <p:spPr>
          <a:xfrm>
            <a:off x="6601968" y="5486400"/>
            <a:ext cx="1211580" cy="502920"/>
          </a:xfrm>
          <a:prstGeom prst="roundRect">
            <a:avLst>
              <a:gd name="adj" fmla="val 14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Category</a:t>
            </a:r>
          </a:p>
        </p:txBody>
      </p:sp>
      <p:sp>
        <p:nvSpPr>
          <p:cNvPr id="228" name="Field 228"/>
          <p:cNvSpPr/>
          <p:nvPr/>
        </p:nvSpPr>
        <p:spPr>
          <a:xfrm>
            <a:off x="7923276" y="5486400"/>
            <a:ext cx="1211580" cy="502920"/>
          </a:xfrm>
          <a:prstGeom prst="roundRect">
            <a:avLst>
              <a:gd name="adj" fmla="val 14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Requirement text</a:t>
            </a:r>
          </a:p>
        </p:txBody>
      </p:sp>
      <p:sp>
        <p:nvSpPr>
          <p:cNvPr id="229" name="Field 229"/>
          <p:cNvSpPr/>
          <p:nvPr/>
        </p:nvSpPr>
        <p:spPr>
          <a:xfrm>
            <a:off x="9244584" y="5486400"/>
            <a:ext cx="1211580" cy="502920"/>
          </a:xfrm>
          <a:prstGeom prst="roundRect">
            <a:avLst>
              <a:gd name="adj" fmla="val 14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Mandatory / Optional</a:t>
            </a:r>
          </a:p>
        </p:txBody>
      </p:sp>
      <p:sp>
        <p:nvSpPr>
          <p:cNvPr id="230" name="Field 230"/>
          <p:cNvSpPr/>
          <p:nvPr/>
        </p:nvSpPr>
        <p:spPr>
          <a:xfrm>
            <a:off x="10565892" y="5486400"/>
            <a:ext cx="1211580" cy="502920"/>
          </a:xfrm>
          <a:prstGeom prst="roundRect">
            <a:avLst>
              <a:gd name="adj" fmla="val 14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Source page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sp>
        <p:nvSpPr>
          <p:cNvPr id="231" name="Card 231"/>
          <p:cNvSpPr/>
          <p:nvPr/>
        </p:nvSpPr>
        <p:spPr>
          <a:xfrm>
            <a:off x="411480" y="1371600"/>
            <a:ext cx="2487168" cy="251460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232" name="TextBox 232"/>
          <p:cNvSpPr txBox="1"/>
          <p:nvPr/>
        </p:nvSpPr>
        <p:spPr>
          <a:xfrm>
            <a:off x="594360" y="1481328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AI / GenAI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594360" y="1847088"/>
            <a:ext cx="2167128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Large Language Model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Retrieval-Augmented Generation (RAG)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Embeddings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Multi-Agent AI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Structured output generation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Evidence-based prompting</a:t>
            </a:r>
          </a:p>
        </p:txBody>
      </p:sp>
      <p:sp>
        <p:nvSpPr>
          <p:cNvPr id="234" name="Card 234"/>
          <p:cNvSpPr/>
          <p:nvPr/>
        </p:nvSpPr>
        <p:spPr>
          <a:xfrm>
            <a:off x="3081528" y="1371600"/>
            <a:ext cx="2487168" cy="251460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</p:sp>
      <p:sp>
        <p:nvSpPr>
          <p:cNvPr id="235" name="TextBox 235"/>
          <p:cNvSpPr txBox="1"/>
          <p:nvPr/>
        </p:nvSpPr>
        <p:spPr>
          <a:xfrm>
            <a:off x="3264408" y="1481328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Retrieval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3264408" y="1847088"/>
            <a:ext cx="2167128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Vector similarity search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Keyword / BM25-style retrieval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Hybrid retrieval and ranking</a:t>
            </a:r>
          </a:p>
          <a:p>
            <a:pPr algn="l" marL="171450" indent="-171450">
              <a:spcBef>
                <a:spcPts val="0"/>
              </a:spcBef>
              <a:spcAft>
                <a:spcPts val="500"/>
              </a:spcAft>
              <a:buClr>
                <a:srgbClr val="1C4D98"/>
              </a:buClr>
              <a:buFont typeface="Arial"/>
              <a:buChar char="•"/>
            </a:pP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Source-page traceability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5980176" y="1371600"/>
            <a:ext cx="57972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Specialized Agents</a:t>
            </a:r>
          </a:p>
        </p:txBody>
      </p:sp>
      <p:graphicFrame>
        <p:nvGraphicFramePr>
          <p:cNvPr id="238" name="Table 238"/>
          <p:cNvGraphicFramePr>
            <a:graphicFrameLocks noGrp="1"/>
          </p:cNvGraphicFramePr>
          <p:nvPr/>
        </p:nvGraphicFramePr>
        <p:xfrm>
          <a:off x="5980176" y="1719072"/>
          <a:ext cx="5797296" cy="2157984"/>
        </p:xfrm>
        <a:graphic>
          <a:graphicData uri="http://schemas.openxmlformats.org/drawingml/2006/table">
            <a:tbl>
              <a:tblPr firstRow="1"/>
              <a:tblGrid>
                <a:gridCol w="2148840"/>
                <a:gridCol w="3648456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Responsibility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Technical Fit 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Evaluates technical capability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Eligibility 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Checks qualification criteria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Commercial Risk 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Identifies commercial/financial risks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Schedule 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Evaluates deadlines and feasibility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Decision 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Synthesizes evidence into final assessment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9" name="TextBox 239"/>
          <p:cNvSpPr txBox="1"/>
          <p:nvPr/>
        </p:nvSpPr>
        <p:spPr>
          <a:xfrm>
            <a:off x="411480" y="4023360"/>
            <a:ext cx="11365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Technology Stack</a:t>
            </a:r>
          </a:p>
        </p:txBody>
      </p:sp>
      <p:sp>
        <p:nvSpPr>
          <p:cNvPr id="240" name="Stack 240"/>
          <p:cNvSpPr/>
          <p:nvPr/>
        </p:nvSpPr>
        <p:spPr>
          <a:xfrm>
            <a:off x="411480" y="437083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BACKEND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Python, FastAPI</a:t>
            </a:r>
          </a:p>
        </p:txBody>
      </p:sp>
      <p:sp>
        <p:nvSpPr>
          <p:cNvPr id="241" name="Stack 241"/>
          <p:cNvSpPr/>
          <p:nvPr/>
        </p:nvSpPr>
        <p:spPr>
          <a:xfrm>
            <a:off x="2706624" y="437083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LLM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Local LLM / Gemini during experimentation</a:t>
            </a:r>
          </a:p>
        </p:txBody>
      </p:sp>
      <p:sp>
        <p:nvSpPr>
          <p:cNvPr id="242" name="Stack 242"/>
          <p:cNvSpPr/>
          <p:nvPr/>
        </p:nvSpPr>
        <p:spPr>
          <a:xfrm>
            <a:off x="5001768" y="437083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EMBEDDINGS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Sentence Transformers</a:t>
            </a:r>
          </a:p>
        </p:txBody>
      </p:sp>
      <p:sp>
        <p:nvSpPr>
          <p:cNvPr id="243" name="Stack 243"/>
          <p:cNvSpPr/>
          <p:nvPr/>
        </p:nvSpPr>
        <p:spPr>
          <a:xfrm>
            <a:off x="7296912" y="437083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VECTOR DB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Qdrant</a:t>
            </a:r>
          </a:p>
        </p:txBody>
      </p:sp>
      <p:sp>
        <p:nvSpPr>
          <p:cNvPr id="244" name="Stack 244"/>
          <p:cNvSpPr/>
          <p:nvPr/>
        </p:nvSpPr>
        <p:spPr>
          <a:xfrm>
            <a:off x="9592056" y="437083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DATABASE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PostgreSQL</a:t>
            </a:r>
          </a:p>
        </p:txBody>
      </p:sp>
      <p:sp>
        <p:nvSpPr>
          <p:cNvPr id="245" name="Stack 245"/>
          <p:cNvSpPr/>
          <p:nvPr/>
        </p:nvSpPr>
        <p:spPr>
          <a:xfrm>
            <a:off x="411480" y="510235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PDF PROCESSING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PyMuPDF</a:t>
            </a:r>
          </a:p>
        </p:txBody>
      </p:sp>
      <p:sp>
        <p:nvSpPr>
          <p:cNvPr id="246" name="Stack 246"/>
          <p:cNvSpPr/>
          <p:nvPr/>
        </p:nvSpPr>
        <p:spPr>
          <a:xfrm>
            <a:off x="2706624" y="510235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FRONTEND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Streamlit</a:t>
            </a:r>
          </a:p>
        </p:txBody>
      </p:sp>
      <p:sp>
        <p:nvSpPr>
          <p:cNvPr id="247" name="Stack 247"/>
          <p:cNvSpPr/>
          <p:nvPr/>
        </p:nvSpPr>
        <p:spPr>
          <a:xfrm>
            <a:off x="5001768" y="510235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A8F86"/>
                </a:solidFill>
                <a:latin typeface="Calibri"/>
                <a:cs typeface="Calibri"/>
              </a:rPr>
              <a:t>AGENT ORCHESTRATION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LangGraph / modular agent architecture</a:t>
            </a:r>
          </a:p>
        </p:txBody>
      </p:sp>
      <p:sp>
        <p:nvSpPr>
          <p:cNvPr id="248" name="Stack 248"/>
          <p:cNvSpPr/>
          <p:nvPr/>
        </p:nvSpPr>
        <p:spPr>
          <a:xfrm>
            <a:off x="7296912" y="5102352"/>
            <a:ext cx="2185416" cy="6400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9525">
            <a:solidFill>
              <a:srgbClr val="F0D9A0"/>
            </a:solidFill>
          </a:ln>
        </p:spPr>
        <p:txBody>
          <a:bodyPr wrap="square" lIns="109728" tIns="27432" rIns="73152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B26A00"/>
                </a:solidFill>
                <a:latin typeface="Calibri"/>
                <a:cs typeface="Calibri"/>
              </a:rPr>
              <a:t>DEPLOYMENT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Docker / Kubernetes — Planned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850392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graphicFrame>
        <p:nvGraphicFramePr>
          <p:cNvPr id="249" name="Table 249"/>
          <p:cNvGraphicFramePr>
            <a:graphicFrameLocks noGrp="1"/>
          </p:cNvGraphicFramePr>
          <p:nvPr/>
        </p:nvGraphicFramePr>
        <p:xfrm>
          <a:off x="411480" y="1371600"/>
          <a:ext cx="5532120" cy="3547872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Milestone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Problem definition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Architecture design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Tender database schema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Company profile schema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PostgreSQL setup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PDF processing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Tender ingestion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Document chunking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Embedding generation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Qdrant vector storage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●  Completed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F4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Requirement extraction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695C"/>
                          </a:solidFill>
                          <a:latin typeface="Calibri"/>
                          <a:cs typeface="Calibri"/>
                        </a:rPr>
                        <a:t>●  Implemented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0" name="Table 250"/>
          <p:cNvGraphicFramePr>
            <a:graphicFrameLocks noGrp="1"/>
          </p:cNvGraphicFramePr>
          <p:nvPr/>
        </p:nvGraphicFramePr>
        <p:xfrm>
          <a:off x="6245352" y="1371600"/>
          <a:ext cx="5532120" cy="3255264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Milestone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Company capability matching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695C"/>
                          </a:solidFill>
                          <a:latin typeface="Calibri"/>
                          <a:cs typeface="Calibri"/>
                        </a:rPr>
                        <a:t>●  Implemented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DDF1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AI capability analysis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695C"/>
                          </a:solidFill>
                          <a:latin typeface="Calibri"/>
                          <a:cs typeface="Calibri"/>
                        </a:rPr>
                        <a:t>●  Implemented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DDF1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Eligibility analysis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695C"/>
                          </a:solidFill>
                          <a:latin typeface="Calibri"/>
                          <a:cs typeface="Calibri"/>
                        </a:rPr>
                        <a:t>●  Implemented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DDF1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Commercial risk analysis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695C"/>
                          </a:solidFill>
                          <a:latin typeface="Calibri"/>
                          <a:cs typeface="Calibri"/>
                        </a:rPr>
                        <a:t>●  Implemented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DDF1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Decision analysis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695C"/>
                          </a:solidFill>
                          <a:latin typeface="Calibri"/>
                          <a:cs typeface="Calibri"/>
                        </a:rPr>
                        <a:t>●  Implemented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DDF1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Technical 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A15C00"/>
                          </a:solidFill>
                          <a:latin typeface="Calibri"/>
                          <a:cs typeface="Calibri"/>
                        </a:rPr>
                        <a:t>●  In Progress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FFF1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Schedule feasibility agent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A15C00"/>
                          </a:solidFill>
                          <a:latin typeface="Calibri"/>
                          <a:cs typeface="Calibri"/>
                        </a:rPr>
                        <a:t>●  In Progress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FFF1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Complete multi-agent orchestration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A15C00"/>
                          </a:solidFill>
                          <a:latin typeface="Calibri"/>
                          <a:cs typeface="Calibri"/>
                        </a:rPr>
                        <a:t>●  In Progress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FFF1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Frontend refinement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A15C00"/>
                          </a:solidFill>
                          <a:latin typeface="Calibri"/>
                          <a:cs typeface="Calibri"/>
                        </a:rPr>
                        <a:t>●  In Progress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FFF1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Evaluation &amp; benchmarking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C4D98"/>
                          </a:solidFill>
                          <a:latin typeface="Calibri"/>
                          <a:cs typeface="Calibri"/>
                        </a:rPr>
                        <a:t>●  Planned</a:t>
                      </a:r>
                    </a:p>
                  </a:txBody>
                  <a:tcPr marL="9144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E2F3"/>
                      </a:solidFill>
                    </a:lnB>
                    <a:solidFill>
                      <a:srgbClr val="E3EEFB"/>
                    </a:solidFill>
                  </a:tcPr>
                </a:tc>
              </a:tr>
            </a:tbl>
          </a:graphicData>
        </a:graphic>
      </p:graphicFrame>
      <p:sp>
        <p:nvSpPr>
          <p:cNvPr id="251" name="Progress 251"/>
          <p:cNvSpPr/>
          <p:nvPr/>
        </p:nvSpPr>
        <p:spPr>
          <a:xfrm>
            <a:off x="411480" y="5102352"/>
            <a:ext cx="5532120" cy="713232"/>
          </a:xfrm>
          <a:prstGeom prst="roundRect">
            <a:avLst>
              <a:gd name="adj" fmla="val 9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Current Progress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2424"/>
                </a:solidFill>
                <a:latin typeface="Calibri"/>
                <a:cs typeface="Calibri"/>
              </a:rPr>
              <a:t>Core document intelligence, retrieval, requirement extraction, capability matching and initial AI analysis have been implemented.</a:t>
            </a:r>
          </a:p>
        </p:txBody>
      </p:sp>
      <p:sp>
        <p:nvSpPr>
          <p:cNvPr id="252" name="Remaining 252"/>
          <p:cNvSpPr/>
          <p:nvPr/>
        </p:nvSpPr>
        <p:spPr>
          <a:xfrm>
            <a:off x="6245352" y="5102352"/>
            <a:ext cx="5532120" cy="713232"/>
          </a:xfrm>
          <a:prstGeom prst="roundRect">
            <a:avLst>
              <a:gd name="adj" fmla="val 9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Remaining Focus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A8F86"/>
                </a:solidFill>
                <a:latin typeface="Calibri"/>
                <a:cs typeface="Calibri"/>
              </a:rPr>
              <a:t>Complete agent orchestration → Decision workflow → Evaluation → Productionization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End-to-End Pipeline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TenderBid AI</a:t>
            </a:r>
          </a:p>
          <a:p>
            <a:pPr algn="r"/>
            <a:endParaRPr lang="en-US" dirty="0"/>
          </a:p>
        </p:txBody>
      </p:sp>
      <p:sp>
        <p:nvSpPr>
          <p:cNvPr id="253" name="StageHead 253"/>
          <p:cNvSpPr/>
          <p:nvPr/>
        </p:nvSpPr>
        <p:spPr>
          <a:xfrm>
            <a:off x="411480" y="1371600"/>
            <a:ext cx="2157984" cy="548640"/>
          </a:xfrm>
          <a:prstGeom prst="homePlate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wrap="square" lIns="164592" tIns="18288" rIns="18288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1  Ingest</a:t>
            </a:r>
          </a:p>
        </p:txBody>
      </p:sp>
      <p:sp>
        <p:nvSpPr>
          <p:cNvPr id="254" name="Component 254"/>
          <p:cNvSpPr/>
          <p:nvPr/>
        </p:nvSpPr>
        <p:spPr>
          <a:xfrm>
            <a:off x="411480" y="208483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Tender / RFP Upload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PDF documents</a:t>
            </a:r>
          </a:p>
        </p:txBody>
      </p:sp>
      <p:sp>
        <p:nvSpPr>
          <p:cNvPr id="255" name="Component 255"/>
          <p:cNvSpPr/>
          <p:nvPr/>
        </p:nvSpPr>
        <p:spPr>
          <a:xfrm>
            <a:off x="411480" y="304495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Document Processing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PyMuPDF · page-level text extraction</a:t>
            </a:r>
          </a:p>
        </p:txBody>
      </p:sp>
      <p:sp>
        <p:nvSpPr>
          <p:cNvPr id="256" name="Component 256"/>
          <p:cNvSpPr/>
          <p:nvPr/>
        </p:nvSpPr>
        <p:spPr>
          <a:xfrm>
            <a:off x="411480" y="400507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Tender Database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PostgreSQL · tender schema</a:t>
            </a:r>
          </a:p>
        </p:txBody>
      </p:sp>
      <p:sp>
        <p:nvSpPr>
          <p:cNvPr id="257" name="StageHead 257"/>
          <p:cNvSpPr/>
          <p:nvPr/>
        </p:nvSpPr>
        <p:spPr>
          <a:xfrm>
            <a:off x="2729484" y="1371600"/>
            <a:ext cx="2157984" cy="548640"/>
          </a:xfrm>
          <a:prstGeom prst="homePlate">
            <a:avLst>
              <a:gd name="adj" fmla="val 30000"/>
            </a:avLst>
          </a:prstGeom>
          <a:solidFill>
            <a:srgbClr val="1C4D98"/>
          </a:solidFill>
          <a:ln>
            <a:noFill/>
          </a:ln>
        </p:spPr>
        <p:txBody>
          <a:bodyPr wrap="square" lIns="164592" tIns="18288" rIns="18288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2  Understand</a:t>
            </a:r>
          </a:p>
        </p:txBody>
      </p:sp>
      <p:sp>
        <p:nvSpPr>
          <p:cNvPr id="258" name="Component 258"/>
          <p:cNvSpPr/>
          <p:nvPr/>
        </p:nvSpPr>
        <p:spPr>
          <a:xfrm>
            <a:off x="2729484" y="208483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Chunking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~800 chars · ~100 overlap · page metadata</a:t>
            </a:r>
          </a:p>
        </p:txBody>
      </p:sp>
      <p:sp>
        <p:nvSpPr>
          <p:cNvPr id="259" name="Component 259"/>
          <p:cNvSpPr/>
          <p:nvPr/>
        </p:nvSpPr>
        <p:spPr>
          <a:xfrm>
            <a:off x="2729484" y="304495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Embeddings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Sentence Transformers</a:t>
            </a:r>
          </a:p>
        </p:txBody>
      </p:sp>
      <p:sp>
        <p:nvSpPr>
          <p:cNvPr id="260" name="Component 260"/>
          <p:cNvSpPr/>
          <p:nvPr/>
        </p:nvSpPr>
        <p:spPr>
          <a:xfrm>
            <a:off x="2729484" y="400507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Requirement Engine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Technical · Eligibility · Commercial · Schedule</a:t>
            </a:r>
          </a:p>
        </p:txBody>
      </p:sp>
      <p:sp>
        <p:nvSpPr>
          <p:cNvPr id="261" name="StageHead 261"/>
          <p:cNvSpPr/>
          <p:nvPr/>
        </p:nvSpPr>
        <p:spPr>
          <a:xfrm>
            <a:off x="5047488" y="1371600"/>
            <a:ext cx="2157984" cy="548640"/>
          </a:xfrm>
          <a:prstGeom prst="homePlate">
            <a:avLst>
              <a:gd name="adj" fmla="val 30000"/>
            </a:avLst>
          </a:prstGeom>
          <a:solidFill>
            <a:srgbClr val="2C7A9B"/>
          </a:solidFill>
          <a:ln>
            <a:noFill/>
          </a:ln>
        </p:spPr>
        <p:txBody>
          <a:bodyPr wrap="square" lIns="164592" tIns="18288" rIns="18288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3  Retrieve</a:t>
            </a:r>
          </a:p>
        </p:txBody>
      </p:sp>
      <p:sp>
        <p:nvSpPr>
          <p:cNvPr id="262" name="Component 262"/>
          <p:cNvSpPr/>
          <p:nvPr/>
        </p:nvSpPr>
        <p:spPr>
          <a:xfrm>
            <a:off x="5047488" y="208483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Vector Search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Qdrant semantic similarity</a:t>
            </a:r>
          </a:p>
        </p:txBody>
      </p:sp>
      <p:sp>
        <p:nvSpPr>
          <p:cNvPr id="263" name="Component 263"/>
          <p:cNvSpPr/>
          <p:nvPr/>
        </p:nvSpPr>
        <p:spPr>
          <a:xfrm>
            <a:off x="5047488" y="304495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Keyword Retrieval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BM25-style exact terms, numbers, dates</a:t>
            </a:r>
          </a:p>
        </p:txBody>
      </p:sp>
      <p:sp>
        <p:nvSpPr>
          <p:cNvPr id="264" name="Component 264"/>
          <p:cNvSpPr/>
          <p:nvPr/>
        </p:nvSpPr>
        <p:spPr>
          <a:xfrm>
            <a:off x="5047488" y="400507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Hybrid Ranking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Evidence with source-page traceability</a:t>
            </a:r>
          </a:p>
        </p:txBody>
      </p:sp>
      <p:sp>
        <p:nvSpPr>
          <p:cNvPr id="265" name="StageHead 265"/>
          <p:cNvSpPr/>
          <p:nvPr/>
        </p:nvSpPr>
        <p:spPr>
          <a:xfrm>
            <a:off x="7365492" y="1371600"/>
            <a:ext cx="2157984" cy="548640"/>
          </a:xfrm>
          <a:prstGeom prst="homePlate">
            <a:avLst>
              <a:gd name="adj" fmla="val 30000"/>
            </a:avLst>
          </a:prstGeom>
          <a:solidFill>
            <a:srgbClr val="2A8F86"/>
          </a:solidFill>
          <a:ln>
            <a:noFill/>
          </a:ln>
        </p:spPr>
        <p:txBody>
          <a:bodyPr wrap="square" lIns="164592" tIns="18288" rIns="18288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4  Analyze</a:t>
            </a:r>
          </a:p>
        </p:txBody>
      </p:sp>
      <p:sp>
        <p:nvSpPr>
          <p:cNvPr id="266" name="Component 266"/>
          <p:cNvSpPr/>
          <p:nvPr/>
        </p:nvSpPr>
        <p:spPr>
          <a:xfrm>
            <a:off x="7365492" y="208483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Capability Matching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Requirements ↔ company profile</a:t>
            </a:r>
          </a:p>
        </p:txBody>
      </p:sp>
      <p:sp>
        <p:nvSpPr>
          <p:cNvPr id="267" name="Component 267"/>
          <p:cNvSpPr/>
          <p:nvPr/>
        </p:nvSpPr>
        <p:spPr>
          <a:xfrm>
            <a:off x="7365492" y="304495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Multi-Agent Analysis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Technical Fit · Eligibility · Commercial Risk · Schedule</a:t>
            </a:r>
          </a:p>
        </p:txBody>
      </p:sp>
      <p:sp>
        <p:nvSpPr>
          <p:cNvPr id="268" name="Component 268"/>
          <p:cNvSpPr/>
          <p:nvPr/>
        </p:nvSpPr>
        <p:spPr>
          <a:xfrm>
            <a:off x="7365492" y="400507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Risk Analysis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Constraints, risks, compliance gaps</a:t>
            </a:r>
          </a:p>
        </p:txBody>
      </p:sp>
      <p:sp>
        <p:nvSpPr>
          <p:cNvPr id="269" name="StageHead 269"/>
          <p:cNvSpPr/>
          <p:nvPr/>
        </p:nvSpPr>
        <p:spPr>
          <a:xfrm>
            <a:off x="9683496" y="1371600"/>
            <a:ext cx="2157984" cy="548640"/>
          </a:xfrm>
          <a:prstGeom prst="homePlate">
            <a:avLst>
              <a:gd name="adj" fmla="val 30000"/>
            </a:avLst>
          </a:prstGeom>
          <a:solidFill>
            <a:srgbClr val="2E7D32"/>
          </a:solidFill>
          <a:ln>
            <a:noFill/>
          </a:ln>
        </p:spPr>
        <p:txBody>
          <a:bodyPr wrap="square" lIns="164592" tIns="18288" rIns="182880" bIns="18288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5  Decide</a:t>
            </a:r>
          </a:p>
        </p:txBody>
      </p:sp>
      <p:sp>
        <p:nvSpPr>
          <p:cNvPr id="270" name="Component 270"/>
          <p:cNvSpPr/>
          <p:nvPr/>
        </p:nvSpPr>
        <p:spPr>
          <a:xfrm>
            <a:off x="9683496" y="208483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Decision Agent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Synthesizes evidence into final assessment</a:t>
            </a:r>
          </a:p>
        </p:txBody>
      </p:sp>
      <p:sp>
        <p:nvSpPr>
          <p:cNvPr id="271" name="Component 271"/>
          <p:cNvSpPr/>
          <p:nvPr/>
        </p:nvSpPr>
        <p:spPr>
          <a:xfrm>
            <a:off x="9683496" y="304495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BID / NO-BID / REVIEW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With traceable reasoning</a:t>
            </a:r>
          </a:p>
        </p:txBody>
      </p:sp>
      <p:sp>
        <p:nvSpPr>
          <p:cNvPr id="272" name="Component 272"/>
          <p:cNvSpPr/>
          <p:nvPr/>
        </p:nvSpPr>
        <p:spPr>
          <a:xfrm>
            <a:off x="9683496" y="4005072"/>
            <a:ext cx="2093976" cy="85039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D3E2F3"/>
            </a:solidFill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1F4E79"/>
                </a:solidFill>
                <a:latin typeface="Calibri"/>
                <a:cs typeface="Calibri"/>
              </a:rPr>
              <a:t>Evidence Report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05A66"/>
                </a:solidFill>
                <a:latin typeface="Calibri"/>
                <a:cs typeface="Calibri"/>
              </a:rPr>
              <a:t>Decision backed by tender evidence</a:t>
            </a:r>
          </a:p>
        </p:txBody>
      </p:sp>
      <p:sp>
        <p:nvSpPr>
          <p:cNvPr id="273" name="SupportLabel 273"/>
          <p:cNvSpPr/>
          <p:nvPr/>
        </p:nvSpPr>
        <p:spPr>
          <a:xfrm>
            <a:off x="411480" y="5074920"/>
            <a:ext cx="2093976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Supporting Architecture</a:t>
            </a:r>
          </a:p>
        </p:txBody>
      </p:sp>
      <p:sp>
        <p:nvSpPr>
          <p:cNvPr id="274" name="Support 274"/>
          <p:cNvSpPr/>
          <p:nvPr/>
        </p:nvSpPr>
        <p:spPr>
          <a:xfrm>
            <a:off x="2688336" y="5074920"/>
            <a:ext cx="1423416" cy="658368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4E79"/>
                </a:solidFill>
                <a:latin typeface="Calibri"/>
                <a:cs typeface="Calibri"/>
              </a:rPr>
              <a:t>FastAPI backend</a:t>
            </a:r>
          </a:p>
        </p:txBody>
      </p:sp>
      <p:sp>
        <p:nvSpPr>
          <p:cNvPr id="275" name="Support 275"/>
          <p:cNvSpPr/>
          <p:nvPr/>
        </p:nvSpPr>
        <p:spPr>
          <a:xfrm>
            <a:off x="4221480" y="5074920"/>
            <a:ext cx="1423416" cy="658368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4E79"/>
                </a:solidFill>
                <a:latin typeface="Calibri"/>
                <a:cs typeface="Calibri"/>
              </a:rPr>
              <a:t>PostgreSQL</a:t>
            </a:r>
          </a:p>
        </p:txBody>
      </p:sp>
      <p:sp>
        <p:nvSpPr>
          <p:cNvPr id="276" name="Support 276"/>
          <p:cNvSpPr/>
          <p:nvPr/>
        </p:nvSpPr>
        <p:spPr>
          <a:xfrm>
            <a:off x="5754624" y="5074920"/>
            <a:ext cx="1423416" cy="658368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4E79"/>
                </a:solidFill>
                <a:latin typeface="Calibri"/>
                <a:cs typeface="Calibri"/>
              </a:rPr>
              <a:t>Qdrant vector DB</a:t>
            </a:r>
          </a:p>
        </p:txBody>
      </p:sp>
      <p:sp>
        <p:nvSpPr>
          <p:cNvPr id="277" name="Support 277"/>
          <p:cNvSpPr/>
          <p:nvPr/>
        </p:nvSpPr>
        <p:spPr>
          <a:xfrm>
            <a:off x="7287768" y="5074920"/>
            <a:ext cx="1423416" cy="658368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4E79"/>
                </a:solidFill>
                <a:latin typeface="Calibri"/>
                <a:cs typeface="Calibri"/>
              </a:rPr>
              <a:t>Streamlit UI</a:t>
            </a:r>
          </a:p>
        </p:txBody>
      </p:sp>
      <p:sp>
        <p:nvSpPr>
          <p:cNvPr id="278" name="Support 278"/>
          <p:cNvSpPr/>
          <p:nvPr/>
        </p:nvSpPr>
        <p:spPr>
          <a:xfrm>
            <a:off x="8820912" y="5074920"/>
            <a:ext cx="1423416" cy="658368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9525">
            <a:solidFill>
              <a:srgbClr val="BFE3D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4E79"/>
                </a:solidFill>
                <a:latin typeface="Calibri"/>
                <a:cs typeface="Calibri"/>
              </a:rPr>
              <a:t>LangGraph orchestration</a:t>
            </a:r>
          </a:p>
        </p:txBody>
      </p:sp>
      <p:sp>
        <p:nvSpPr>
          <p:cNvPr id="279" name="Support 279"/>
          <p:cNvSpPr/>
          <p:nvPr/>
        </p:nvSpPr>
        <p:spPr>
          <a:xfrm>
            <a:off x="10354056" y="5074920"/>
            <a:ext cx="1423416" cy="658368"/>
          </a:xfrm>
          <a:prstGeom prst="roundRect">
            <a:avLst>
              <a:gd name="adj" fmla="val 10000"/>
            </a:avLst>
          </a:prstGeom>
          <a:solidFill>
            <a:srgbClr val="FFF1CC"/>
          </a:solidFill>
          <a:ln w="9525">
            <a:solidFill>
              <a:srgbClr val="F0D9A0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1F4E79"/>
                </a:solidFill>
                <a:latin typeface="Calibri"/>
                <a:cs typeface="Calibri"/>
              </a:rPr>
              <a:t>Docker / Kubernetes (Planned)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12</cp:revision>
  <dcterms:created xsi:type="dcterms:W3CDTF">2024-05-13T10:33:11Z</dcterms:created>
  <dcterms:modified xsi:type="dcterms:W3CDTF">2025-09-20T12:01:52Z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
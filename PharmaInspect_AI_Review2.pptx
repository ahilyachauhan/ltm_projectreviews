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PharmaInspect AI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AI-Powered Visual Inspection &amp; Quality Intelligence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Ahilya Chauhan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631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20040" y="5504688"/>
            <a:ext cx="4114800" cy="32918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Knowledge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504688"/>
            <a:ext cx="4114800" cy="32918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Implementation Partner</a:t>
            </a:r>
          </a:p>
        </p:txBody>
      </p:sp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3B73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840480" cy="41148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1690268"/>
            <a:ext cx="231343" cy="2313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1554480"/>
            <a:ext cx="2926080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800" b="1" i="0">
                <a:solidFill>
                  <a:srgbClr val="1F3B73"/>
                </a:solidFill>
                <a:latin typeface="Calibri"/>
              </a:rPr>
              <a:t>Problem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4023360" cy="41148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2000" y="1554480"/>
            <a:ext cx="502920" cy="502920"/>
          </a:xfrm>
          <a:prstGeom prst="ellipse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88" y="1690268"/>
            <a:ext cx="231343" cy="231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60" y="1554480"/>
            <a:ext cx="3108960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800" b="1" i="0">
                <a:solidFill>
                  <a:srgbClr val="1F3B73"/>
                </a:solidFill>
                <a:latin typeface="Calibri"/>
              </a:rPr>
              <a:t>Proposed 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371600"/>
            <a:ext cx="3200400" cy="41148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778240" y="155448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028" y="1690268"/>
            <a:ext cx="231343" cy="2313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72600" y="1554480"/>
            <a:ext cx="2286000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800" b="1" i="0">
                <a:solidFill>
                  <a:srgbClr val="1F3B73"/>
                </a:solidFill>
                <a:latin typeface="Calibri"/>
              </a:rPr>
              <a:t>Development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240280"/>
            <a:ext cx="3566160" cy="32004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3B73"/>
                </a:solidFill>
                <a:latin typeface="Calibri"/>
              </a:rPr>
              <a:t>Manual visual inspection in quality control can be: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Time-consuming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Subject to human variability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Difficult to scale for large inspection volumes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Challenging when defects are subtle or localized</a:t>
            </a:r>
          </a:p>
          <a:p>
            <a:pPr algn="l">
              <a:spcBef>
                <a:spcPts val="800"/>
              </a:spcBef>
            </a:pPr>
            <a:r>
              <a:rPr sz="1400" b="0" i="1">
                <a:solidFill>
                  <a:srgbClr val="5F6B7D"/>
                </a:solidFill>
                <a:latin typeface="Calibri"/>
              </a:rPr>
              <a:t>Traditional image classification also needs enough labeled examples of every defect category.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240280"/>
            <a:ext cx="3749040" cy="32004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3B73"/>
                </a:solidFill>
                <a:latin typeface="Calibri"/>
              </a:rPr>
              <a:t>An AI-powered visual anomaly inspection platform that: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Analyzes product images automatically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Learns the visual characteristics of normal products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Detects deviations from normal appearance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Calculates an anomaly score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Localizes suspicious regions using a heatmap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1450" b="0" i="0">
                <a:solidFill>
                  <a:srgbClr val="2B3548"/>
                </a:solidFill>
                <a:latin typeface="Calibri"/>
              </a:rPr>
              <a:t>Delivers an AI-assisted result via a web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240280"/>
            <a:ext cx="2926080" cy="4572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2800" b="1" i="0">
                <a:solidFill>
                  <a:srgbClr val="2E9E5B"/>
                </a:solidFill>
                <a:latin typeface="Calibri"/>
              </a:rPr>
              <a:t>MVTec 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743200"/>
            <a:ext cx="292608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800" b="1" i="0">
                <a:solidFill>
                  <a:srgbClr val="1F3B73"/>
                </a:solidFill>
                <a:latin typeface="Calibri"/>
              </a:rPr>
              <a:t>Pill category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337560"/>
            <a:ext cx="2926080" cy="201168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50" b="1" i="0">
                <a:solidFill>
                  <a:srgbClr val="D98E04"/>
                </a:solidFill>
                <a:latin typeface="Calibri"/>
              </a:rPr>
              <a:t>Note: </a:t>
            </a:r>
            <a:r>
              <a:rPr sz="1450" b="0" i="0">
                <a:solidFill>
                  <a:srgbClr val="2B3548"/>
                </a:solidFill>
                <a:latin typeface="Calibri"/>
              </a:rPr>
              <a:t>MVTec AD is an industrial anomaly-detection benchmark. It is used to develop and evaluate the core visual anomaly-detection pipeline; the architecture is intended for adaptation to pharmaceutical manufacturing inspection.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3B73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400" b="1" i="0">
                <a:solidFill>
                  <a:srgbClr val="1FA9D6"/>
                </a:solidFill>
                <a:latin typeface="Calibri"/>
              </a:rPr>
              <a:t>Primary Objective 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Develop an AI-assisted visual inspection system that learns normal product appearance and identifies visually anomalous regions in inspection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68880"/>
            <a:ext cx="3685032" cy="15087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30352" y="2633472"/>
            <a:ext cx="457200" cy="457200"/>
          </a:xfrm>
          <a:prstGeom prst="ellipse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2862072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700" b="1" i="0">
                <a:solidFill>
                  <a:srgbClr val="1F3B73"/>
                </a:solidFill>
                <a:latin typeface="Calibri"/>
              </a:rPr>
              <a:t>Normal Pattern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200400"/>
            <a:ext cx="3355848" cy="7315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Train an anomaly-detection model using defect-free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2468880"/>
            <a:ext cx="3685032" cy="15087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398264" y="2633472"/>
            <a:ext cx="457200" cy="457200"/>
          </a:xfrm>
          <a:prstGeom prst="ellipse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615184"/>
            <a:ext cx="2862072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700" b="1" i="0">
                <a:solidFill>
                  <a:srgbClr val="1F3B73"/>
                </a:solidFill>
                <a:latin typeface="Calibri"/>
              </a:rPr>
              <a:t>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3200400"/>
            <a:ext cx="3355848" cy="7315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Identify visual deviations between normal learned patterns and unseen inspection images.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2468880"/>
            <a:ext cx="3685032" cy="15087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66176" y="2633472"/>
            <a:ext cx="457200" cy="457200"/>
          </a:xfrm>
          <a:prstGeom prst="ellipse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615184"/>
            <a:ext cx="2862072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700" b="1" i="0">
                <a:solidFill>
                  <a:srgbClr val="1F3B73"/>
                </a:solidFill>
                <a:latin typeface="Calibri"/>
              </a:rPr>
              <a:t>Anomaly Quantification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200400"/>
            <a:ext cx="3355848" cy="7315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Calculate a reconstruction-based anomaly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60520"/>
            <a:ext cx="3685032" cy="15087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30352" y="4325112"/>
            <a:ext cx="457200" cy="45720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06824"/>
            <a:ext cx="2862072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700" b="1" i="0">
                <a:solidFill>
                  <a:srgbClr val="1F3B73"/>
                </a:solidFill>
                <a:latin typeface="Calibri"/>
              </a:rPr>
              <a:t>Anomaly Localization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892040"/>
            <a:ext cx="3355848" cy="7315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Generate a pixel-level error map / heatmap to indicate suspicious regions.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4160520"/>
            <a:ext cx="3685032" cy="15087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398264" y="4325112"/>
            <a:ext cx="457200" cy="45720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4306824"/>
            <a:ext cx="2862072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700" b="1" i="0">
                <a:solidFill>
                  <a:srgbClr val="1F3B73"/>
                </a:solidFill>
                <a:latin typeface="Calibri"/>
              </a:rPr>
              <a:t>Inspection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4892040"/>
            <a:ext cx="3355848" cy="7315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Classify the inspected image as NORMAL / ANOMALOUS with an associated severity level.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4" y="4160520"/>
            <a:ext cx="3685032" cy="15087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266176" y="4325112"/>
            <a:ext cx="457200" cy="45720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4306824"/>
            <a:ext cx="2862072" cy="5029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700" b="1" i="0">
                <a:solidFill>
                  <a:srgbClr val="1F3B73"/>
                </a:solidFill>
                <a:latin typeface="Calibri"/>
              </a:rPr>
              <a:t>Quality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892040"/>
            <a:ext cx="3355848" cy="7315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Provide results through a web-based Next.js interface connected to a FastAPI backend.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1F3B73">
                    <a:lumMod val="50000"/>
                  </a:srgbClr>
                </a:solidFill>
                <a:latin typeface="Calibri" panose="020F0502020204030204"/>
              </a:rPr>
              <a:t>System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365760" y="1371600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481328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Image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993392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Inspection image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1371600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154679" y="1508760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79" y="1481328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Image Preprocessing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79" y="1993392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Resize and tensor conversion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1371600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806440" y="1508760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81328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Model 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1993392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Trained convolutional autoencoder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752344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02920" y="2889503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2862072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374136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Generate reconstructed representation of input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2752344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3154679" y="2889503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79" y="2862072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Anomaly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79" y="3374136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Calculate reconstruction error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2752344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5806440" y="2889503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62072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Anomaly Localization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3374136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Generate pixel-level error heatmap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33087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502920" y="4270248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242816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Severity Assessment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54879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Map anomaly score to inspection severity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0" y="4133087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154679" y="4270248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79" y="4242816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Inspection 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679" y="4754879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NORMAL / ANOMALOUS + score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0" y="4133087"/>
            <a:ext cx="2514600" cy="12435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5806440" y="4270248"/>
            <a:ext cx="384048" cy="384048"/>
          </a:xfrm>
          <a:prstGeom prst="ellipse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242816"/>
            <a:ext cx="1828800" cy="4572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50" b="1" i="0">
                <a:solidFill>
                  <a:srgbClr val="1F3B73"/>
                </a:solidFill>
                <a:latin typeface="Calibri"/>
              </a:rPr>
              <a:t>Quality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4754879"/>
            <a:ext cx="2240280" cy="5486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350" b="0" i="0">
                <a:solidFill>
                  <a:srgbClr val="2B3548"/>
                </a:solidFill>
                <a:latin typeface="Calibri"/>
              </a:rPr>
              <a:t>Display inspection results and analysis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371600"/>
            <a:ext cx="3383279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595360" y="1481328"/>
            <a:ext cx="3017519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800" b="1" i="0">
                <a:solidFill>
                  <a:srgbClr val="1FA9D6"/>
                </a:solidFill>
                <a:latin typeface="Calibri"/>
              </a:rPr>
              <a:t>Future Modules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95360" y="2011680"/>
            <a:ext cx="3017519" cy="5303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bIns="27432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Inspection history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95360" y="2651760"/>
            <a:ext cx="3017519" cy="5303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bIns="27432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MongoDB persistence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95360" y="3291840"/>
            <a:ext cx="3017519" cy="5303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bIns="27432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Human-in-the-loop review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95360" y="3931920"/>
            <a:ext cx="3017519" cy="5303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bIns="27432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Quality analytics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95360" y="4572000"/>
            <a:ext cx="3017519" cy="5303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bIns="27432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Model monitoring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1F3B73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Training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3716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Normal images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Defect-free "good" training set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85032" y="1892807"/>
            <a:ext cx="210312" cy="228600"/>
          </a:xfrm>
          <a:prstGeom prst="rightArrow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922776" y="13716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Preprocess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Resize 128×128, tensor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41848" y="1892807"/>
            <a:ext cx="210312" cy="228600"/>
          </a:xfrm>
          <a:prstGeom prst="rightArrow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879592" y="13716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Encoder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Learns compact visual representation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98663" y="1892807"/>
            <a:ext cx="210312" cy="228600"/>
          </a:xfrm>
          <a:prstGeom prst="rightArrow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836408" y="13716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Decoder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Reconstructs the input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55480" y="1892807"/>
            <a:ext cx="210312" cy="228600"/>
          </a:xfrm>
          <a:prstGeom prst="rightArrow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793224" y="13716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MSE loss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Optimize → trained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8036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Inference Phase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288036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Upload image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Inspection image input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85032" y="3401568"/>
            <a:ext cx="210312" cy="228600"/>
          </a:xfrm>
          <a:prstGeom prst="righ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922776" y="288036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Preprocess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Resize and tensor conversion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41848" y="3401568"/>
            <a:ext cx="210312" cy="228600"/>
          </a:xfrm>
          <a:prstGeom prst="righ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879592" y="288036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Autoencoder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Encode and reconstruct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98663" y="3401568"/>
            <a:ext cx="210312" cy="228600"/>
          </a:xfrm>
          <a:prstGeom prst="righ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836408" y="288036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Error map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Reconstruction error → score + heatmap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55480" y="3401568"/>
            <a:ext cx="210312" cy="228600"/>
          </a:xfrm>
          <a:prstGeom prst="righ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793224" y="288036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Result</a:t>
            </a:r>
          </a:p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NORMAL / ANOMALOUS + severity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89120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126480" y="4389120"/>
            <a:ext cx="5669280" cy="12344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" y="4434840"/>
            <a:ext cx="530352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Current Model: Convolutional Autoencoder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00600"/>
            <a:ext cx="5303520" cy="8229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 marL="164592" indent="-164592">
              <a:buChar char="•"/>
            </a:pPr>
            <a:r>
              <a:rPr sz="1350" b="0" i="0">
                <a:solidFill>
                  <a:srgbClr val="2B3548"/>
                </a:solidFill>
                <a:latin typeface="Calibri"/>
              </a:rPr>
              <a:t>Encoder learns a compact visual representation.</a:t>
            </a:r>
          </a:p>
          <a:p>
            <a:pPr algn="l" marL="164592" indent="-164592">
              <a:buChar char="•"/>
            </a:pPr>
            <a:r>
              <a:rPr sz="1350" b="0" i="0">
                <a:solidFill>
                  <a:srgbClr val="2B3548"/>
                </a:solidFill>
                <a:latin typeface="Calibri"/>
              </a:rPr>
              <a:t>Decoder reconstructs the input.</a:t>
            </a:r>
          </a:p>
          <a:p>
            <a:pPr algn="l" marL="164592" indent="-164592">
              <a:buChar char="•"/>
            </a:pPr>
            <a:r>
              <a:rPr sz="1350" b="0" i="0">
                <a:solidFill>
                  <a:srgbClr val="2B3548"/>
                </a:solidFill>
                <a:latin typeface="Calibri"/>
              </a:rPr>
              <a:t>Reconstruction error is the anomaly signal.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34840"/>
            <a:ext cx="539496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Why Autoencoder?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800600"/>
            <a:ext cx="5394960" cy="8229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00" b="0" i="0">
                <a:solidFill>
                  <a:srgbClr val="2B3548"/>
                </a:solidFill>
                <a:latin typeface="Calibri"/>
              </a:rPr>
              <a:t>The initial system is designed around normality learning rather than requiring labeled examples for every possible defect type.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1F3B73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FA9D6"/>
                </a:solidFill>
                <a:latin typeface="Calibri"/>
              </a:rPr>
              <a:t>267</a:t>
            </a:r>
          </a:p>
          <a:p>
            <a:pPr algn="ctr"/>
            <a:r>
              <a:rPr sz="1350" b="0" i="0">
                <a:solidFill>
                  <a:srgbClr val="2B3548"/>
                </a:solidFill>
                <a:latin typeface="Calibri"/>
              </a:rPr>
              <a:t>Normal training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0750" y="1371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FA9D6"/>
                </a:solidFill>
                <a:latin typeface="Calibri"/>
              </a:rPr>
              <a:t>128×128</a:t>
            </a:r>
          </a:p>
          <a:p>
            <a:pPr algn="ctr"/>
            <a:r>
              <a:rPr sz="1350" b="0" i="0">
                <a:solidFill>
                  <a:srgbClr val="2B3548"/>
                </a:solidFill>
                <a:latin typeface="Calibri"/>
              </a:rPr>
              <a:t>RGB input image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5740" y="1371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FA9D6"/>
                </a:solidFill>
                <a:latin typeface="Calibri"/>
              </a:rPr>
              <a:t>20</a:t>
            </a:r>
          </a:p>
          <a:p>
            <a:pPr algn="ctr"/>
            <a:r>
              <a:rPr sz="1350" b="0" i="0">
                <a:solidFill>
                  <a:srgbClr val="2B3548"/>
                </a:solidFill>
                <a:latin typeface="Calibri"/>
              </a:rPr>
              <a:t>Training epochs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0731" y="1371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FA9D6"/>
                </a:solidFill>
                <a:latin typeface="Calibri"/>
              </a:rPr>
              <a:t>8</a:t>
            </a:r>
          </a:p>
          <a:p>
            <a:pPr algn="ctr"/>
            <a:r>
              <a:rPr sz="1350" b="0" i="0">
                <a:solidFill>
                  <a:srgbClr val="2B3548"/>
                </a:solidFill>
                <a:latin typeface="Calibri"/>
              </a:rPr>
              <a:t>Batch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486400" cy="3200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Dataset, Preprocessing &amp; Configuration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834640"/>
          <a:ext cx="5852160" cy="20848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114800"/>
              </a:tblGrid>
              <a:tr h="34747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B73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T="27432" marB="27432" marL="91440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3548"/>
                          </a:solidFill>
                          <a:latin typeface="Calibri"/>
                        </a:rPr>
                        <a:t>MVTec AD — Pill category</a:t>
                      </a:r>
                    </a:p>
                  </a:txBody>
                  <a:tcPr marT="27432" marB="27432" marL="9144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B73"/>
                          </a:solidFill>
                          <a:latin typeface="Calibri"/>
                        </a:rPr>
                        <a:t>Training subset</a:t>
                      </a:r>
                    </a:p>
                  </a:txBody>
                  <a:tcPr marT="27432" marB="27432" marL="91440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3548"/>
                          </a:solidFill>
                          <a:latin typeface="Calibri"/>
                        </a:rPr>
                        <a:t>Good / defect-free images</a:t>
                      </a:r>
                    </a:p>
                  </a:txBody>
                  <a:tcPr marT="27432" marB="27432" marL="9144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B73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T="27432" marB="27432" marL="91440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3548"/>
                          </a:solidFill>
                          <a:latin typeface="Calibri"/>
                        </a:rPr>
                        <a:t>Resize to 128×128, tensor conversion</a:t>
                      </a:r>
                    </a:p>
                  </a:txBody>
                  <a:tcPr marT="27432" marB="27432" marL="9144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B73"/>
                          </a:solidFill>
                          <a:latin typeface="Calibri"/>
                        </a:rPr>
                        <a:t>Input channels</a:t>
                      </a:r>
                    </a:p>
                  </a:txBody>
                  <a:tcPr marT="27432" marB="27432" marL="91440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3548"/>
                          </a:solidFill>
                          <a:latin typeface="Calibri"/>
                        </a:rPr>
                        <a:t>RGB (3 channels)</a:t>
                      </a:r>
                    </a:p>
                  </a:txBody>
                  <a:tcPr marT="27432" marB="27432" marL="9144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B73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marT="27432" marB="27432" marL="91440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3548"/>
                          </a:solidFill>
                          <a:latin typeface="Calibri"/>
                        </a:rPr>
                        <a:t>Adam, learning rate 0.001</a:t>
                      </a:r>
                    </a:p>
                  </a:txBody>
                  <a:tcPr marT="27432" marB="27432" marL="9144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B73"/>
                          </a:solidFill>
                          <a:latin typeface="Calibri"/>
                        </a:rPr>
                        <a:t>Loss function</a:t>
                      </a:r>
                    </a:p>
                  </a:txBody>
                  <a:tcPr marT="27432" marB="27432" marL="91440" anchor="ctr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B3548"/>
                          </a:solidFill>
                          <a:latin typeface="Calibri"/>
                        </a:rPr>
                        <a:t>Mean Squared Error (MSE)</a:t>
                      </a:r>
                    </a:p>
                  </a:txBody>
                  <a:tcPr marT="27432" marB="27432" marL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2468880"/>
            <a:ext cx="5303520" cy="3200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Training Observation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834640"/>
            <a:ext cx="5303520" cy="2084831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5120640" cy="3200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300" b="0" i="0">
                <a:solidFill>
                  <a:srgbClr val="5F6B7D"/>
                </a:solidFill>
                <a:latin typeface="Calibri"/>
              </a:rPr>
              <a:t>Training loss over 20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5120640" cy="7315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3400" b="1" i="0">
                <a:solidFill>
                  <a:srgbClr val="D98E04"/>
                </a:solidFill>
                <a:latin typeface="Calibri"/>
              </a:rPr>
              <a:t>0.047270</a:t>
            </a:r>
            <a:r>
              <a:rPr sz="2400" b="1" i="0">
                <a:solidFill>
                  <a:srgbClr val="5F6B7D"/>
                </a:solidFill>
                <a:latin typeface="Calibri"/>
              </a:rPr>
              <a:t>  →  </a:t>
            </a:r>
            <a:r>
              <a:rPr sz="3400" b="1" i="0">
                <a:solidFill>
                  <a:srgbClr val="2E9E5B"/>
                </a:solidFill>
                <a:latin typeface="Calibri"/>
              </a:rPr>
              <a:t>0.000553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5120640" cy="7315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350" b="0" i="0">
                <a:solidFill>
                  <a:srgbClr val="2B3548"/>
                </a:solidFill>
                <a:latin typeface="Calibri"/>
              </a:rPr>
              <a:t>Approximate values: successful model convergence on normal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74920"/>
            <a:ext cx="11430000" cy="566928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rIns="182880" bIns="27432"/>
          <a:lstStyle/>
          <a:p>
            <a:pPr algn="l"/>
            <a:r>
              <a:rPr sz="1350" b="1" i="0">
                <a:solidFill>
                  <a:srgbClr val="D98E04"/>
                </a:solidFill>
                <a:latin typeface="Calibri"/>
              </a:rPr>
              <a:t>Important evaluation note: </a:t>
            </a:r>
            <a:r>
              <a:rPr sz="1350" b="0" i="0">
                <a:solidFill>
                  <a:srgbClr val="2B3548"/>
                </a:solidFill>
                <a:latin typeface="Calibri"/>
              </a:rPr>
              <a:t>convergence is shown, but detection performance must still be evaluated on normal and defective test samples before reporting accuracy or other metrics.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1F3B73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30352" y="1709928"/>
            <a:ext cx="594360" cy="59436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29" y="1870405"/>
            <a:ext cx="273405" cy="273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1481328"/>
            <a:ext cx="329184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Convolutional Autoencoder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5F6B7D"/>
                </a:solidFill>
                <a:latin typeface="Calibri"/>
              </a:rPr>
              <a:t>Encoder  ·  Decoder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8892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0352" y="3127248"/>
            <a:ext cx="594360" cy="594360"/>
          </a:xfrm>
          <a:prstGeom prst="ellipse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9" y="3287725"/>
            <a:ext cx="273405" cy="2734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80160" y="2898648"/>
            <a:ext cx="329184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39"/>
            <a:ext cx="3291840" cy="6400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Mean Squared Reconstruction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0624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30352" y="4544568"/>
            <a:ext cx="594360" cy="5943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29" y="4705045"/>
            <a:ext cx="273405" cy="2734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160" y="4315968"/>
            <a:ext cx="329184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09159"/>
            <a:ext cx="3291840" cy="6400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l"/>
            <a:r>
              <a:rPr sz="1450" b="0" i="0">
                <a:solidFill>
                  <a:srgbClr val="2B3548"/>
                </a:solidFill>
                <a:latin typeface="Calibri"/>
              </a:rPr>
              <a:t>Pixel-level reconstruction error map → Heatmap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37760" y="1371600"/>
          <a:ext cx="6858000" cy="42062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4480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T="18288" marB="18288" marL="109728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 marT="18288" marB="18288" marL="109728">
                    <a:solidFill>
                      <a:srgbClr val="1F3B7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Programming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Image Processing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Torchvision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Convolutional Autoencoder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Next.js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TypeScript / Python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B3548"/>
                          </a:solidFill>
                          <a:latin typeface="Calibri"/>
                        </a:rPr>
                        <a:t>MVTec AD – Pill</a:t>
                      </a:r>
                    </a:p>
                  </a:txBody>
                  <a:tcPr anchor="ctr" marT="18288" marB="18288" marL="10972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>
                          <a:solidFill>
                            <a:srgbClr val="D98E04"/>
                          </a:solidFill>
                          <a:latin typeface="Calibri"/>
                        </a:rPr>
                        <a:t>MongoDB — Planned</a:t>
                      </a:r>
                    </a:p>
                  </a:txBody>
                  <a:tcPr anchor="ctr" marT="18288" marB="18288" marL="109728">
                    <a:solidFill>
                      <a:srgbClr val="FFF4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Containerization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>
                          <a:solidFill>
                            <a:srgbClr val="D98E04"/>
                          </a:solidFill>
                          <a:latin typeface="Calibri"/>
                        </a:rPr>
                        <a:t>Docker — Planned</a:t>
                      </a:r>
                    </a:p>
                  </a:txBody>
                  <a:tcPr anchor="ctr" marT="18288" marB="18288" marL="109728">
                    <a:solidFill>
                      <a:srgbClr val="FFF4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3B73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anchor="ctr" marT="18288" marB="18288" marL="10972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1">
                          <a:solidFill>
                            <a:srgbClr val="D98E04"/>
                          </a:solidFill>
                          <a:latin typeface="Calibri"/>
                        </a:rPr>
                        <a:t>Cloud deployment — Planned</a:t>
                      </a:r>
                    </a:p>
                  </a:txBody>
                  <a:tcPr anchor="ctr" marT="18288" marB="18288" marL="109728">
                    <a:solidFill>
                      <a:srgbClr val="FFF4D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1F3B73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7223760" cy="310896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6858000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2E9E5B"/>
                </a:solidFill>
                <a:latin typeface="Calibri"/>
              </a:rPr>
              <a:t>Completed (17)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Problem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Dataset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MVTec Pill dataset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06624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Project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99232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Image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Autoencoder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84448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77056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Trained model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4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Inference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828800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Anomaly score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121408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Heatmap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414016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FastAPI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706624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Image upload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999232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ML ↔ FastAPI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291840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Next.js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584448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Frontend ↔ FastAPI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877056"/>
            <a:ext cx="347472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2E9E5B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Dynamic AI result display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371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09560" y="1417320"/>
            <a:ext cx="3749039" cy="3657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D98E04"/>
                </a:solidFill>
                <a:latin typeface="Calibri"/>
              </a:rPr>
              <a:t>In Progress (2)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783080"/>
            <a:ext cx="3749039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D98E04"/>
                </a:solidFill>
                <a:latin typeface="Calibri"/>
              </a:rPr>
              <a:t>◐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Defective-image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075688"/>
            <a:ext cx="3749039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D98E04"/>
                </a:solidFill>
                <a:latin typeface="Calibri"/>
              </a:rPr>
              <a:t>◐  </a:t>
            </a:r>
            <a:r>
              <a:rPr sz="1300" b="0" i="0">
                <a:solidFill>
                  <a:srgbClr val="2B3548"/>
                </a:solidFill>
                <a:latin typeface="Calibri"/>
              </a:rPr>
              <a:t>Threshold calibration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65176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09560" y="2679192"/>
            <a:ext cx="3749039" cy="347472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2F7FD1"/>
                </a:solidFill>
                <a:latin typeface="Calibri"/>
              </a:rPr>
              <a:t>Planned (6)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017520"/>
            <a:ext cx="3749039" cy="23774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F7FD1"/>
                </a:solidFill>
                <a:latin typeface="Calibri"/>
              </a:rPr>
              <a:t>○  </a:t>
            </a:r>
            <a:r>
              <a:rPr sz="1250" b="0" i="0">
                <a:solidFill>
                  <a:srgbClr val="2B3548"/>
                </a:solidFill>
                <a:latin typeface="Calibri"/>
              </a:rPr>
              <a:t>Model performance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255263"/>
            <a:ext cx="3749039" cy="23774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F7FD1"/>
                </a:solidFill>
                <a:latin typeface="Calibri"/>
              </a:rPr>
              <a:t>○  </a:t>
            </a:r>
            <a:r>
              <a:rPr sz="1250" b="0" i="0">
                <a:solidFill>
                  <a:srgbClr val="2B3548"/>
                </a:solidFill>
                <a:latin typeface="Calibri"/>
              </a:rPr>
              <a:t>MongoDB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493008"/>
            <a:ext cx="3749039" cy="23774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F7FD1"/>
                </a:solidFill>
                <a:latin typeface="Calibri"/>
              </a:rPr>
              <a:t>○  </a:t>
            </a:r>
            <a:r>
              <a:rPr sz="1250" b="0" i="0">
                <a:solidFill>
                  <a:srgbClr val="2B3548"/>
                </a:solidFill>
                <a:latin typeface="Calibri"/>
              </a:rPr>
              <a:t>Inspection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730752"/>
            <a:ext cx="3749039" cy="23774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F7FD1"/>
                </a:solidFill>
                <a:latin typeface="Calibri"/>
              </a:rPr>
              <a:t>○  </a:t>
            </a:r>
            <a:r>
              <a:rPr sz="1250" b="0" i="0">
                <a:solidFill>
                  <a:srgbClr val="2B3548"/>
                </a:solidFill>
                <a:latin typeface="Calibri"/>
              </a:rPr>
              <a:t>Human-in-the-loop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968496"/>
            <a:ext cx="3749039" cy="23774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F7FD1"/>
                </a:solidFill>
                <a:latin typeface="Calibri"/>
              </a:rPr>
              <a:t>○  </a:t>
            </a:r>
            <a:r>
              <a:rPr sz="1250" b="0" i="0">
                <a:solidFill>
                  <a:srgbClr val="2B3548"/>
                </a:solidFill>
                <a:latin typeface="Calibri"/>
              </a:rPr>
              <a:t>Quality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206240"/>
            <a:ext cx="3749039" cy="237744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F7FD1"/>
                </a:solidFill>
                <a:latin typeface="Calibri"/>
              </a:rPr>
              <a:t>○  </a:t>
            </a:r>
            <a:r>
              <a:rPr sz="1250" b="0" i="0">
                <a:solidFill>
                  <a:srgbClr val="2B3548"/>
                </a:solidFill>
                <a:latin typeface="Calibri"/>
              </a:rPr>
              <a:t>Model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548640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1F3B73"/>
                </a:solidFill>
                <a:latin typeface="Calibri"/>
              </a:rPr>
              <a:t>Current Working Pipeline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Image Upload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836420" y="5138928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202692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97580" y="5138928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68808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Autoencoder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158739" y="5138928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34924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Anomaly Score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819900" y="5138928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701040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Heatmap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481060" y="5138928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67156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Inspection Result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0142220" y="5138928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10332720" y="4956048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Next.js Dashboard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1F3B73">
                    <a:lumMod val="50000"/>
                  </a:srgbClr>
                </a:solidFill>
              </a:rPr>
              <a:t>PharmaInspect AI — End-to-End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PharmaInspect AI</a:t>
            </a:r>
          </a:p>
          <a:p>
            <a:pPr algn="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65760" y="1417320"/>
            <a:ext cx="201168" cy="201168"/>
          </a:xfrm>
          <a:prstGeom prst="ellipse">
            <a:avLst/>
          </a:prstGeom>
          <a:solidFill>
            <a:srgbClr val="2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1371600"/>
            <a:ext cx="137160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B3548"/>
                </a:solidFill>
                <a:latin typeface="Calibri"/>
              </a:rPr>
              <a:t>Frontend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1417320"/>
            <a:ext cx="201168" cy="20116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59152" y="1371600"/>
            <a:ext cx="137160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B3548"/>
                </a:solidFill>
                <a:latin typeface="Calibri"/>
              </a:rPr>
              <a:t>Backend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0" y="1417320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096512" y="1371600"/>
            <a:ext cx="1371600" cy="29260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2B3548"/>
                </a:solidFill>
                <a:latin typeface="Calibri"/>
              </a:rPr>
              <a:t>ML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91540" y="1938528"/>
            <a:ext cx="365760" cy="365760"/>
          </a:xfrm>
          <a:prstGeom prst="ellipse">
            <a:avLst/>
          </a:prstGeom>
          <a:solidFill>
            <a:srgbClr val="2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Image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Next.js interface takes the inspection image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817370" y="2743200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03454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2560320" y="1938528"/>
            <a:ext cx="365760" cy="36576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026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769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Upload API hands the image to the ML pipeline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486150" y="2743200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70332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229100" y="193852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Preprocessing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Resize and tensor conversion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54930" y="2743200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37210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897880" y="193852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782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Autoencoder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525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Encoder → decoder; reconstructs the input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23710" y="2743200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04088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566660" y="193852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Error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Reconstruction error → anomaly score + heatmap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492490" y="2743200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70966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35440" y="193852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538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281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Severity assessed: NORMAL / ANOMALOUS + score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161270" y="2743200"/>
            <a:ext cx="182880" cy="219456"/>
          </a:xfrm>
          <a:prstGeom prst="rightArrow">
            <a:avLst/>
          </a:prstGeom>
          <a:solidFill>
            <a:srgbClr val="1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378440" y="182880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904220" y="1938528"/>
            <a:ext cx="365760" cy="365760"/>
          </a:xfrm>
          <a:prstGeom prst="ellipse">
            <a:avLst/>
          </a:prstGeom>
          <a:solidFill>
            <a:srgbClr val="2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2377440"/>
            <a:ext cx="1325880" cy="4114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ctr"/>
            <a:r>
              <a:rPr sz="1500" b="1" i="0">
                <a:solidFill>
                  <a:srgbClr val="1F3B73"/>
                </a:solidFill>
                <a:latin typeface="Calibri"/>
              </a:rPr>
              <a:t>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51592" y="2816352"/>
            <a:ext cx="1271016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spAutoFit/>
          </a:bodyPr>
          <a:lstStyle/>
          <a:p>
            <a:pPr algn="ctr"/>
            <a:r>
              <a:rPr sz="1250" b="0" i="0">
                <a:solidFill>
                  <a:srgbClr val="2B3548"/>
                </a:solidFill>
                <a:latin typeface="Calibri"/>
              </a:rPr>
              <a:t>Displays score, heatmap and 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114800"/>
            <a:ext cx="7315200" cy="3200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spAutoFit/>
          </a:bodyPr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Supporting Components (planned)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MongoDB persistence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3454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Inspection history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Human-in-the-loop review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7210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Quality analytics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Model monitoring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0966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Docker containerization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78440" y="45262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A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350" b="1" i="0">
                <a:solidFill>
                  <a:srgbClr val="1F3B73"/>
                </a:solidFill>
                <a:latin typeface="Calibri"/>
              </a:rPr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